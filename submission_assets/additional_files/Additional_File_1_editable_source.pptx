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8" r:id="rId2"/>
    <p:sldId id="257" r:id="rId3"/>
    <p:sldId id="259" r:id="rId4"/>
  </p:sldIdLst>
  <p:sldSz cx="6483350" cy="86868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25" userDrawn="1">
          <p15:clr>
            <a:srgbClr val="A4A3A4"/>
          </p15:clr>
        </p15:guide>
        <p15:guide id="2" orient="horz" pos="4913" userDrawn="1">
          <p15:clr>
            <a:srgbClr val="A4A3A4"/>
          </p15:clr>
        </p15:guide>
        <p15:guide id="3" orient="horz" pos="1596" userDrawn="1">
          <p15:clr>
            <a:srgbClr val="A4A3A4"/>
          </p15:clr>
        </p15:guide>
        <p15:guide id="4" pos="137" userDrawn="1">
          <p15:clr>
            <a:srgbClr val="A4A3A4"/>
          </p15:clr>
        </p15:guide>
        <p15:guide id="5" orient="horz" pos="2718" userDrawn="1">
          <p15:clr>
            <a:srgbClr val="A4A3A4"/>
          </p15:clr>
        </p15:guide>
        <p15:guide id="6" orient="horz" pos="3986" userDrawn="1">
          <p15:clr>
            <a:srgbClr val="A4A3A4"/>
          </p15:clr>
        </p15:guide>
        <p15:guide id="7" orient="horz" pos="3623" userDrawn="1">
          <p15:clr>
            <a:srgbClr val="A4A3A4"/>
          </p15:clr>
        </p15:guide>
        <p15:guide id="8" orient="horz" pos="1437" userDrawn="1">
          <p15:clr>
            <a:srgbClr val="A4A3A4"/>
          </p15:clr>
        </p15:guide>
        <p15:guide id="9" orient="horz" pos="3355" userDrawn="1">
          <p15:clr>
            <a:srgbClr val="A4A3A4"/>
          </p15:clr>
        </p15:guide>
        <p15:guide id="10" orient="horz" pos="17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A02C"/>
    <a:srgbClr val="FF7F0E"/>
    <a:srgbClr val="1F77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284" autoAdjust="0"/>
    <p:restoredTop sz="94660"/>
  </p:normalViewPr>
  <p:slideViewPr>
    <p:cSldViewPr showGuides="1">
      <p:cViewPr>
        <p:scale>
          <a:sx n="129" d="100"/>
          <a:sy n="129" d="100"/>
        </p:scale>
        <p:origin x="1728" y="-1200"/>
      </p:cViewPr>
      <p:guideLst>
        <p:guide orient="horz" pos="625"/>
        <p:guide orient="horz" pos="4913"/>
        <p:guide orient="horz" pos="1596"/>
        <p:guide pos="137"/>
        <p:guide orient="horz" pos="2718"/>
        <p:guide orient="horz" pos="3986"/>
        <p:guide orient="horz" pos="3623"/>
        <p:guide orient="horz" pos="1437"/>
        <p:guide orient="horz" pos="3355"/>
        <p:guide orient="horz" pos="1768"/>
      </p:guideLst>
    </p:cSldViewPr>
  </p:slideViewPr>
  <p:notesTextViewPr>
    <p:cViewPr>
      <p:scale>
        <a:sx n="1" d="1"/>
        <a:sy n="1" d="1"/>
      </p:scale>
      <p:origin x="0" y="0"/>
    </p:cViewPr>
  </p:notesTextViewPr>
  <p:sorterViewPr>
    <p:cViewPr>
      <p:scale>
        <a:sx n="100" d="100"/>
        <a:sy n="100" d="100"/>
      </p:scale>
      <p:origin x="0" y="0"/>
    </p:cViewPr>
  </p:sorterViewPr>
  <p:gridSpacing cx="64008" cy="64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E51E67-27F2-4C99-B76F-735603D31757}" type="datetimeFigureOut">
              <a:rPr lang="en-US" smtClean="0"/>
              <a:t>9/6/2026</a:t>
            </a:fld>
            <a:endParaRPr lang="en-US"/>
          </a:p>
        </p:txBody>
      </p:sp>
      <p:sp>
        <p:nvSpPr>
          <p:cNvPr id="4" name="Slide Image Placeholder 3"/>
          <p:cNvSpPr>
            <a:spLocks noGrp="1" noRot="1" noChangeAspect="1"/>
          </p:cNvSpPr>
          <p:nvPr>
            <p:ph type="sldImg" idx="2"/>
          </p:nvPr>
        </p:nvSpPr>
        <p:spPr>
          <a:xfrm>
            <a:off x="2278063" y="1143000"/>
            <a:ext cx="23018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D73C7-4849-45A6-B5F4-A484EB6BCC3A}" type="slidenum">
              <a:rPr lang="en-US" smtClean="0"/>
              <a:t>‹#›</a:t>
            </a:fld>
            <a:endParaRPr lang="en-US"/>
          </a:p>
        </p:txBody>
      </p:sp>
    </p:spTree>
    <p:extLst>
      <p:ext uri="{BB962C8B-B14F-4D97-AF65-F5344CB8AC3E}">
        <p14:creationId xmlns:p14="http://schemas.microsoft.com/office/powerpoint/2010/main" val="995176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03E7-9992-D449-031C-195A828E4D6D}"/>
              </a:ext>
            </a:extLst>
          </p:cNvPr>
          <p:cNvSpPr>
            <a:spLocks noGrp="1"/>
          </p:cNvSpPr>
          <p:nvPr>
            <p:ph type="ctrTitle"/>
          </p:nvPr>
        </p:nvSpPr>
        <p:spPr>
          <a:xfrm>
            <a:off x="810419" y="1421660"/>
            <a:ext cx="4862513" cy="3024293"/>
          </a:xfrm>
        </p:spPr>
        <p:txBody>
          <a:bodyPr anchor="b"/>
          <a:lstStyle>
            <a:lvl1pPr algn="ctr">
              <a:defRPr sz="3191"/>
            </a:lvl1pPr>
          </a:lstStyle>
          <a:p>
            <a:r>
              <a:rPr lang="en-US"/>
              <a:t>Click to edit Master title style</a:t>
            </a:r>
          </a:p>
        </p:txBody>
      </p:sp>
      <p:sp>
        <p:nvSpPr>
          <p:cNvPr id="3" name="Subtitle 2">
            <a:extLst>
              <a:ext uri="{FF2B5EF4-FFF2-40B4-BE49-F238E27FC236}">
                <a16:creationId xmlns:a16="http://schemas.microsoft.com/office/drawing/2014/main" id="{0CE1CDE1-1FD4-A2BE-84D5-162CB57E8B1E}"/>
              </a:ext>
            </a:extLst>
          </p:cNvPr>
          <p:cNvSpPr>
            <a:spLocks noGrp="1"/>
          </p:cNvSpPr>
          <p:nvPr>
            <p:ph type="subTitle" idx="1"/>
          </p:nvPr>
        </p:nvSpPr>
        <p:spPr>
          <a:xfrm>
            <a:off x="810419" y="4562581"/>
            <a:ext cx="4862513" cy="2097299"/>
          </a:xfrm>
        </p:spPr>
        <p:txBody>
          <a:bodyPr/>
          <a:lstStyle>
            <a:lvl1pPr marL="0" indent="0" algn="ctr">
              <a:buNone/>
              <a:defRPr sz="1276"/>
            </a:lvl1pPr>
            <a:lvl2pPr marL="243139" indent="0" algn="ctr">
              <a:buNone/>
              <a:defRPr sz="1064"/>
            </a:lvl2pPr>
            <a:lvl3pPr marL="486278" indent="0" algn="ctr">
              <a:buNone/>
              <a:defRPr sz="957"/>
            </a:lvl3pPr>
            <a:lvl4pPr marL="729417" indent="0" algn="ctr">
              <a:buNone/>
              <a:defRPr sz="851"/>
            </a:lvl4pPr>
            <a:lvl5pPr marL="972556" indent="0" algn="ctr">
              <a:buNone/>
              <a:defRPr sz="851"/>
            </a:lvl5pPr>
            <a:lvl6pPr marL="1215695" indent="0" algn="ctr">
              <a:buNone/>
              <a:defRPr sz="851"/>
            </a:lvl6pPr>
            <a:lvl7pPr marL="1458834" indent="0" algn="ctr">
              <a:buNone/>
              <a:defRPr sz="851"/>
            </a:lvl7pPr>
            <a:lvl8pPr marL="1701973" indent="0" algn="ctr">
              <a:buNone/>
              <a:defRPr sz="851"/>
            </a:lvl8pPr>
            <a:lvl9pPr marL="1945112" indent="0" algn="ctr">
              <a:buNone/>
              <a:defRPr sz="851"/>
            </a:lvl9pPr>
          </a:lstStyle>
          <a:p>
            <a:r>
              <a:rPr lang="en-US"/>
              <a:t>Click to edit Master subtitle style</a:t>
            </a:r>
          </a:p>
        </p:txBody>
      </p:sp>
      <p:sp>
        <p:nvSpPr>
          <p:cNvPr id="4" name="Date Placeholder 3">
            <a:extLst>
              <a:ext uri="{FF2B5EF4-FFF2-40B4-BE49-F238E27FC236}">
                <a16:creationId xmlns:a16="http://schemas.microsoft.com/office/drawing/2014/main" id="{543FC63E-087D-7AD9-557D-569A0D5BE09C}"/>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5" name="Footer Placeholder 4">
            <a:extLst>
              <a:ext uri="{FF2B5EF4-FFF2-40B4-BE49-F238E27FC236}">
                <a16:creationId xmlns:a16="http://schemas.microsoft.com/office/drawing/2014/main" id="{3D33E390-4881-2CA0-E99D-F20A6EEC4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183FA-3E5C-CFE7-E318-BB59FAABB43D}"/>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25174752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1045E-C41E-23B5-41E2-3A052D976A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757ADA-E33F-207C-A692-B1D0D01390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6C204C-46E5-AB86-CEA8-1501F47A89A8}"/>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5" name="Footer Placeholder 4">
            <a:extLst>
              <a:ext uri="{FF2B5EF4-FFF2-40B4-BE49-F238E27FC236}">
                <a16:creationId xmlns:a16="http://schemas.microsoft.com/office/drawing/2014/main" id="{BBCBE9CB-4AF8-134C-0FD7-A3BFEB51C3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0AFC71-FB94-CCDF-671B-A8E96D16B24C}"/>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3529406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95B93-D254-23F4-98BE-3A0B6AA5911C}"/>
              </a:ext>
            </a:extLst>
          </p:cNvPr>
          <p:cNvSpPr>
            <a:spLocks noGrp="1"/>
          </p:cNvSpPr>
          <p:nvPr>
            <p:ph type="title"/>
          </p:nvPr>
        </p:nvSpPr>
        <p:spPr>
          <a:xfrm>
            <a:off x="442354" y="2165669"/>
            <a:ext cx="5591889" cy="3613467"/>
          </a:xfrm>
        </p:spPr>
        <p:txBody>
          <a:bodyPr anchor="b"/>
          <a:lstStyle>
            <a:lvl1pPr>
              <a:defRPr sz="3191"/>
            </a:lvl1pPr>
          </a:lstStyle>
          <a:p>
            <a:r>
              <a:rPr lang="en-US"/>
              <a:t>Click to edit Master title style</a:t>
            </a:r>
          </a:p>
        </p:txBody>
      </p:sp>
      <p:sp>
        <p:nvSpPr>
          <p:cNvPr id="3" name="Text Placeholder 2">
            <a:extLst>
              <a:ext uri="{FF2B5EF4-FFF2-40B4-BE49-F238E27FC236}">
                <a16:creationId xmlns:a16="http://schemas.microsoft.com/office/drawing/2014/main" id="{3642235C-9E6D-C298-A839-95035F3EAA2F}"/>
              </a:ext>
            </a:extLst>
          </p:cNvPr>
          <p:cNvSpPr>
            <a:spLocks noGrp="1"/>
          </p:cNvSpPr>
          <p:nvPr>
            <p:ph type="body" idx="1"/>
          </p:nvPr>
        </p:nvSpPr>
        <p:spPr>
          <a:xfrm>
            <a:off x="442354" y="5813320"/>
            <a:ext cx="5591889" cy="1900237"/>
          </a:xfrm>
        </p:spPr>
        <p:txBody>
          <a:bodyPr/>
          <a:lstStyle>
            <a:lvl1pPr marL="0" indent="0">
              <a:buNone/>
              <a:defRPr sz="1276">
                <a:solidFill>
                  <a:schemeClr val="tx1">
                    <a:tint val="82000"/>
                  </a:schemeClr>
                </a:solidFill>
              </a:defRPr>
            </a:lvl1pPr>
            <a:lvl2pPr marL="243139" indent="0">
              <a:buNone/>
              <a:defRPr sz="1064">
                <a:solidFill>
                  <a:schemeClr val="tx1">
                    <a:tint val="82000"/>
                  </a:schemeClr>
                </a:solidFill>
              </a:defRPr>
            </a:lvl2pPr>
            <a:lvl3pPr marL="486278" indent="0">
              <a:buNone/>
              <a:defRPr sz="957">
                <a:solidFill>
                  <a:schemeClr val="tx1">
                    <a:tint val="82000"/>
                  </a:schemeClr>
                </a:solidFill>
              </a:defRPr>
            </a:lvl3pPr>
            <a:lvl4pPr marL="729417" indent="0">
              <a:buNone/>
              <a:defRPr sz="851">
                <a:solidFill>
                  <a:schemeClr val="tx1">
                    <a:tint val="82000"/>
                  </a:schemeClr>
                </a:solidFill>
              </a:defRPr>
            </a:lvl4pPr>
            <a:lvl5pPr marL="972556" indent="0">
              <a:buNone/>
              <a:defRPr sz="851">
                <a:solidFill>
                  <a:schemeClr val="tx1">
                    <a:tint val="82000"/>
                  </a:schemeClr>
                </a:solidFill>
              </a:defRPr>
            </a:lvl5pPr>
            <a:lvl6pPr marL="1215695" indent="0">
              <a:buNone/>
              <a:defRPr sz="851">
                <a:solidFill>
                  <a:schemeClr val="tx1">
                    <a:tint val="82000"/>
                  </a:schemeClr>
                </a:solidFill>
              </a:defRPr>
            </a:lvl6pPr>
            <a:lvl7pPr marL="1458834" indent="0">
              <a:buNone/>
              <a:defRPr sz="851">
                <a:solidFill>
                  <a:schemeClr val="tx1">
                    <a:tint val="82000"/>
                  </a:schemeClr>
                </a:solidFill>
              </a:defRPr>
            </a:lvl7pPr>
            <a:lvl8pPr marL="1701973" indent="0">
              <a:buNone/>
              <a:defRPr sz="851">
                <a:solidFill>
                  <a:schemeClr val="tx1">
                    <a:tint val="82000"/>
                  </a:schemeClr>
                </a:solidFill>
              </a:defRPr>
            </a:lvl8pPr>
            <a:lvl9pPr marL="1945112" indent="0">
              <a:buNone/>
              <a:defRPr sz="851">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6A967E-4C4F-66C8-5E02-D9AFD5110602}"/>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5" name="Footer Placeholder 4">
            <a:extLst>
              <a:ext uri="{FF2B5EF4-FFF2-40B4-BE49-F238E27FC236}">
                <a16:creationId xmlns:a16="http://schemas.microsoft.com/office/drawing/2014/main" id="{305A92BA-FA02-F59D-F53B-8E9E4DA78D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06294B-53A0-4777-1AAA-173BF1D63B83}"/>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1218983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8303-3E6F-0529-2950-59D6281481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78A733-A4E6-7D6C-9610-194030A83F34}"/>
              </a:ext>
            </a:extLst>
          </p:cNvPr>
          <p:cNvSpPr>
            <a:spLocks noGrp="1"/>
          </p:cNvSpPr>
          <p:nvPr>
            <p:ph sz="half" idx="1"/>
          </p:nvPr>
        </p:nvSpPr>
        <p:spPr>
          <a:xfrm>
            <a:off x="445730" y="2312458"/>
            <a:ext cx="2755424" cy="5511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27EB03-D2BA-8E70-93A7-37B20D777C3B}"/>
              </a:ext>
            </a:extLst>
          </p:cNvPr>
          <p:cNvSpPr>
            <a:spLocks noGrp="1"/>
          </p:cNvSpPr>
          <p:nvPr>
            <p:ph sz="half" idx="2"/>
          </p:nvPr>
        </p:nvSpPr>
        <p:spPr>
          <a:xfrm>
            <a:off x="3282196" y="2312458"/>
            <a:ext cx="2755424" cy="5511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B92D28-345C-EF76-F9B8-46B40A01F261}"/>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6" name="Footer Placeholder 5">
            <a:extLst>
              <a:ext uri="{FF2B5EF4-FFF2-40B4-BE49-F238E27FC236}">
                <a16:creationId xmlns:a16="http://schemas.microsoft.com/office/drawing/2014/main" id="{58FA1C74-E4D5-F0AA-A444-00855FAB7B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AC869E-99D2-810F-DB18-DB2C706E342B}"/>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4154734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C6C6B-FDBB-E66B-F415-E079D294EBB8}"/>
              </a:ext>
            </a:extLst>
          </p:cNvPr>
          <p:cNvSpPr>
            <a:spLocks noGrp="1"/>
          </p:cNvSpPr>
          <p:nvPr>
            <p:ph type="title"/>
          </p:nvPr>
        </p:nvSpPr>
        <p:spPr>
          <a:xfrm>
            <a:off x="446575" y="462493"/>
            <a:ext cx="5591889" cy="1679046"/>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A37F75-0F43-E13D-D410-094D7722D937}"/>
              </a:ext>
            </a:extLst>
          </p:cNvPr>
          <p:cNvSpPr>
            <a:spLocks noGrp="1"/>
          </p:cNvSpPr>
          <p:nvPr>
            <p:ph type="body" idx="1"/>
          </p:nvPr>
        </p:nvSpPr>
        <p:spPr>
          <a:xfrm>
            <a:off x="446575" y="2129473"/>
            <a:ext cx="2742761" cy="1043622"/>
          </a:xfrm>
        </p:spPr>
        <p:txBody>
          <a:bodyPr anchor="b"/>
          <a:lstStyle>
            <a:lvl1pPr marL="0" indent="0">
              <a:buNone/>
              <a:defRPr sz="1276" b="1"/>
            </a:lvl1pPr>
            <a:lvl2pPr marL="243139" indent="0">
              <a:buNone/>
              <a:defRPr sz="1064" b="1"/>
            </a:lvl2pPr>
            <a:lvl3pPr marL="486278" indent="0">
              <a:buNone/>
              <a:defRPr sz="957" b="1"/>
            </a:lvl3pPr>
            <a:lvl4pPr marL="729417" indent="0">
              <a:buNone/>
              <a:defRPr sz="851" b="1"/>
            </a:lvl4pPr>
            <a:lvl5pPr marL="972556" indent="0">
              <a:buNone/>
              <a:defRPr sz="851" b="1"/>
            </a:lvl5pPr>
            <a:lvl6pPr marL="1215695" indent="0">
              <a:buNone/>
              <a:defRPr sz="851" b="1"/>
            </a:lvl6pPr>
            <a:lvl7pPr marL="1458834" indent="0">
              <a:buNone/>
              <a:defRPr sz="851" b="1"/>
            </a:lvl7pPr>
            <a:lvl8pPr marL="1701973" indent="0">
              <a:buNone/>
              <a:defRPr sz="851" b="1"/>
            </a:lvl8pPr>
            <a:lvl9pPr marL="1945112" indent="0">
              <a:buNone/>
              <a:defRPr sz="851" b="1"/>
            </a:lvl9pPr>
          </a:lstStyle>
          <a:p>
            <a:pPr lvl="0"/>
            <a:r>
              <a:rPr lang="en-US"/>
              <a:t>Click to edit Master text styles</a:t>
            </a:r>
          </a:p>
        </p:txBody>
      </p:sp>
      <p:sp>
        <p:nvSpPr>
          <p:cNvPr id="4" name="Content Placeholder 3">
            <a:extLst>
              <a:ext uri="{FF2B5EF4-FFF2-40B4-BE49-F238E27FC236}">
                <a16:creationId xmlns:a16="http://schemas.microsoft.com/office/drawing/2014/main" id="{E93CDDA0-58E6-CE28-C082-5B3A47DCCBB6}"/>
              </a:ext>
            </a:extLst>
          </p:cNvPr>
          <p:cNvSpPr>
            <a:spLocks noGrp="1"/>
          </p:cNvSpPr>
          <p:nvPr>
            <p:ph sz="half" idx="2"/>
          </p:nvPr>
        </p:nvSpPr>
        <p:spPr>
          <a:xfrm>
            <a:off x="446575" y="3173095"/>
            <a:ext cx="2742761" cy="4667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D67FFB-EE41-B6FF-35EE-51F144667352}"/>
              </a:ext>
            </a:extLst>
          </p:cNvPr>
          <p:cNvSpPr>
            <a:spLocks noGrp="1"/>
          </p:cNvSpPr>
          <p:nvPr>
            <p:ph type="body" sz="quarter" idx="3"/>
          </p:nvPr>
        </p:nvSpPr>
        <p:spPr>
          <a:xfrm>
            <a:off x="3282196" y="2129473"/>
            <a:ext cx="2756268" cy="1043622"/>
          </a:xfrm>
        </p:spPr>
        <p:txBody>
          <a:bodyPr anchor="b"/>
          <a:lstStyle>
            <a:lvl1pPr marL="0" indent="0">
              <a:buNone/>
              <a:defRPr sz="1276" b="1"/>
            </a:lvl1pPr>
            <a:lvl2pPr marL="243139" indent="0">
              <a:buNone/>
              <a:defRPr sz="1064" b="1"/>
            </a:lvl2pPr>
            <a:lvl3pPr marL="486278" indent="0">
              <a:buNone/>
              <a:defRPr sz="957" b="1"/>
            </a:lvl3pPr>
            <a:lvl4pPr marL="729417" indent="0">
              <a:buNone/>
              <a:defRPr sz="851" b="1"/>
            </a:lvl4pPr>
            <a:lvl5pPr marL="972556" indent="0">
              <a:buNone/>
              <a:defRPr sz="851" b="1"/>
            </a:lvl5pPr>
            <a:lvl6pPr marL="1215695" indent="0">
              <a:buNone/>
              <a:defRPr sz="851" b="1"/>
            </a:lvl6pPr>
            <a:lvl7pPr marL="1458834" indent="0">
              <a:buNone/>
              <a:defRPr sz="851" b="1"/>
            </a:lvl7pPr>
            <a:lvl8pPr marL="1701973" indent="0">
              <a:buNone/>
              <a:defRPr sz="851" b="1"/>
            </a:lvl8pPr>
            <a:lvl9pPr marL="1945112" indent="0">
              <a:buNone/>
              <a:defRPr sz="851" b="1"/>
            </a:lvl9pPr>
          </a:lstStyle>
          <a:p>
            <a:pPr lvl="0"/>
            <a:r>
              <a:rPr lang="en-US"/>
              <a:t>Click to edit Master text styles</a:t>
            </a:r>
          </a:p>
        </p:txBody>
      </p:sp>
      <p:sp>
        <p:nvSpPr>
          <p:cNvPr id="6" name="Content Placeholder 5">
            <a:extLst>
              <a:ext uri="{FF2B5EF4-FFF2-40B4-BE49-F238E27FC236}">
                <a16:creationId xmlns:a16="http://schemas.microsoft.com/office/drawing/2014/main" id="{D969FE97-38EB-91CD-6A52-0390858CA95E}"/>
              </a:ext>
            </a:extLst>
          </p:cNvPr>
          <p:cNvSpPr>
            <a:spLocks noGrp="1"/>
          </p:cNvSpPr>
          <p:nvPr>
            <p:ph sz="quarter" idx="4"/>
          </p:nvPr>
        </p:nvSpPr>
        <p:spPr>
          <a:xfrm>
            <a:off x="3282196" y="3173095"/>
            <a:ext cx="2756268" cy="4667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C5D05D-A179-DE0A-4B3F-2E68DA12EAED}"/>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8" name="Footer Placeholder 7">
            <a:extLst>
              <a:ext uri="{FF2B5EF4-FFF2-40B4-BE49-F238E27FC236}">
                <a16:creationId xmlns:a16="http://schemas.microsoft.com/office/drawing/2014/main" id="{ABAB0FD8-3A60-F8C3-5E2A-8A50404083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DA1953-8227-3008-4755-414C4E9475D4}"/>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4026770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1CE8D-F599-A78A-2834-68903324C1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1392E-959F-ACF1-5289-403AEB6281FE}"/>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4" name="Footer Placeholder 3">
            <a:extLst>
              <a:ext uri="{FF2B5EF4-FFF2-40B4-BE49-F238E27FC236}">
                <a16:creationId xmlns:a16="http://schemas.microsoft.com/office/drawing/2014/main" id="{87C15EFB-A239-A3A3-23F8-87D0C198F8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989ECB-938B-17E7-32CC-B27FDD82EB21}"/>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452249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549557-25B7-01EC-C689-94FDBD2E37D4}"/>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3" name="Footer Placeholder 2">
            <a:extLst>
              <a:ext uri="{FF2B5EF4-FFF2-40B4-BE49-F238E27FC236}">
                <a16:creationId xmlns:a16="http://schemas.microsoft.com/office/drawing/2014/main" id="{E1983277-5475-4AF8-DC12-D5090FC99A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69D21D-952C-E4F8-DEBD-F73501D2744B}"/>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4234654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24EC0-42DF-2100-C365-2C46DB494ADD}"/>
              </a:ext>
            </a:extLst>
          </p:cNvPr>
          <p:cNvSpPr>
            <a:spLocks noGrp="1"/>
          </p:cNvSpPr>
          <p:nvPr>
            <p:ph type="title"/>
          </p:nvPr>
        </p:nvSpPr>
        <p:spPr>
          <a:xfrm>
            <a:off x="446575" y="579120"/>
            <a:ext cx="2091049" cy="2026920"/>
          </a:xfrm>
        </p:spPr>
        <p:txBody>
          <a:bodyPr anchor="b"/>
          <a:lstStyle>
            <a:lvl1pPr>
              <a:defRPr sz="1702"/>
            </a:lvl1pPr>
          </a:lstStyle>
          <a:p>
            <a:r>
              <a:rPr lang="en-US"/>
              <a:t>Click to edit Master title style</a:t>
            </a:r>
          </a:p>
        </p:txBody>
      </p:sp>
      <p:sp>
        <p:nvSpPr>
          <p:cNvPr id="3" name="Content Placeholder 2">
            <a:extLst>
              <a:ext uri="{FF2B5EF4-FFF2-40B4-BE49-F238E27FC236}">
                <a16:creationId xmlns:a16="http://schemas.microsoft.com/office/drawing/2014/main" id="{EEDB98C7-7F5A-DBD2-1440-D816E048ECF0}"/>
              </a:ext>
            </a:extLst>
          </p:cNvPr>
          <p:cNvSpPr>
            <a:spLocks noGrp="1"/>
          </p:cNvSpPr>
          <p:nvPr>
            <p:ph idx="1"/>
          </p:nvPr>
        </p:nvSpPr>
        <p:spPr>
          <a:xfrm>
            <a:off x="2756268" y="1250739"/>
            <a:ext cx="3282196" cy="6173258"/>
          </a:xfrm>
        </p:spPr>
        <p:txBody>
          <a:bodyPr/>
          <a:lstStyle>
            <a:lvl1pPr>
              <a:defRPr sz="1702"/>
            </a:lvl1pPr>
            <a:lvl2pPr>
              <a:defRPr sz="1489"/>
            </a:lvl2pPr>
            <a:lvl3pPr>
              <a:defRPr sz="1276"/>
            </a:lvl3pPr>
            <a:lvl4pPr>
              <a:defRPr sz="1064"/>
            </a:lvl4pPr>
            <a:lvl5pPr>
              <a:defRPr sz="1064"/>
            </a:lvl5pPr>
            <a:lvl6pPr>
              <a:defRPr sz="1064"/>
            </a:lvl6pPr>
            <a:lvl7pPr>
              <a:defRPr sz="1064"/>
            </a:lvl7pPr>
            <a:lvl8pPr>
              <a:defRPr sz="1064"/>
            </a:lvl8pPr>
            <a:lvl9pPr>
              <a:defRPr sz="106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D3E059-766B-FD2B-AB3D-454CAF3FF5C0}"/>
              </a:ext>
            </a:extLst>
          </p:cNvPr>
          <p:cNvSpPr>
            <a:spLocks noGrp="1"/>
          </p:cNvSpPr>
          <p:nvPr>
            <p:ph type="body" sz="half" idx="2"/>
          </p:nvPr>
        </p:nvSpPr>
        <p:spPr>
          <a:xfrm>
            <a:off x="446575" y="2606040"/>
            <a:ext cx="2091049" cy="4828011"/>
          </a:xfrm>
        </p:spPr>
        <p:txBody>
          <a:bodyPr/>
          <a:lstStyle>
            <a:lvl1pPr marL="0" indent="0">
              <a:buNone/>
              <a:defRPr sz="851"/>
            </a:lvl1pPr>
            <a:lvl2pPr marL="243139" indent="0">
              <a:buNone/>
              <a:defRPr sz="745"/>
            </a:lvl2pPr>
            <a:lvl3pPr marL="486278" indent="0">
              <a:buNone/>
              <a:defRPr sz="638"/>
            </a:lvl3pPr>
            <a:lvl4pPr marL="729417" indent="0">
              <a:buNone/>
              <a:defRPr sz="532"/>
            </a:lvl4pPr>
            <a:lvl5pPr marL="972556" indent="0">
              <a:buNone/>
              <a:defRPr sz="532"/>
            </a:lvl5pPr>
            <a:lvl6pPr marL="1215695" indent="0">
              <a:buNone/>
              <a:defRPr sz="532"/>
            </a:lvl6pPr>
            <a:lvl7pPr marL="1458834" indent="0">
              <a:buNone/>
              <a:defRPr sz="532"/>
            </a:lvl7pPr>
            <a:lvl8pPr marL="1701973" indent="0">
              <a:buNone/>
              <a:defRPr sz="532"/>
            </a:lvl8pPr>
            <a:lvl9pPr marL="1945112" indent="0">
              <a:buNone/>
              <a:defRPr sz="532"/>
            </a:lvl9pPr>
          </a:lstStyle>
          <a:p>
            <a:pPr lvl="0"/>
            <a:r>
              <a:rPr lang="en-US"/>
              <a:t>Click to edit Master text styles</a:t>
            </a:r>
          </a:p>
        </p:txBody>
      </p:sp>
      <p:sp>
        <p:nvSpPr>
          <p:cNvPr id="5" name="Date Placeholder 4">
            <a:extLst>
              <a:ext uri="{FF2B5EF4-FFF2-40B4-BE49-F238E27FC236}">
                <a16:creationId xmlns:a16="http://schemas.microsoft.com/office/drawing/2014/main" id="{D7ADC246-234F-D43C-6F56-52DA434AF7AB}"/>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6" name="Footer Placeholder 5">
            <a:extLst>
              <a:ext uri="{FF2B5EF4-FFF2-40B4-BE49-F238E27FC236}">
                <a16:creationId xmlns:a16="http://schemas.microsoft.com/office/drawing/2014/main" id="{BDDD6F43-AE9A-FDD6-9DB9-0FB0FAE90B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ABA1F9-FBDF-8A74-74E9-53420FFE9C8A}"/>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48449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D4C15-FA2B-B441-D3F3-67AC62EBED3C}"/>
              </a:ext>
            </a:extLst>
          </p:cNvPr>
          <p:cNvSpPr>
            <a:spLocks noGrp="1"/>
          </p:cNvSpPr>
          <p:nvPr>
            <p:ph type="title"/>
          </p:nvPr>
        </p:nvSpPr>
        <p:spPr>
          <a:xfrm>
            <a:off x="446575" y="579120"/>
            <a:ext cx="2091049" cy="2026920"/>
          </a:xfrm>
        </p:spPr>
        <p:txBody>
          <a:bodyPr anchor="b"/>
          <a:lstStyle>
            <a:lvl1pPr>
              <a:defRPr sz="1702"/>
            </a:lvl1pPr>
          </a:lstStyle>
          <a:p>
            <a:r>
              <a:rPr lang="en-US"/>
              <a:t>Click to edit Master title style</a:t>
            </a:r>
          </a:p>
        </p:txBody>
      </p:sp>
      <p:sp>
        <p:nvSpPr>
          <p:cNvPr id="3" name="Picture Placeholder 2">
            <a:extLst>
              <a:ext uri="{FF2B5EF4-FFF2-40B4-BE49-F238E27FC236}">
                <a16:creationId xmlns:a16="http://schemas.microsoft.com/office/drawing/2014/main" id="{E6983C16-1A2F-5937-A3EA-43E35A708E70}"/>
              </a:ext>
            </a:extLst>
          </p:cNvPr>
          <p:cNvSpPr>
            <a:spLocks noGrp="1"/>
          </p:cNvSpPr>
          <p:nvPr>
            <p:ph type="pic" idx="1"/>
          </p:nvPr>
        </p:nvSpPr>
        <p:spPr>
          <a:xfrm>
            <a:off x="2756268" y="1250739"/>
            <a:ext cx="3282196" cy="6173258"/>
          </a:xfrm>
        </p:spPr>
        <p:txBody>
          <a:bodyPr/>
          <a:lstStyle>
            <a:lvl1pPr marL="0" indent="0">
              <a:buNone/>
              <a:defRPr sz="1702"/>
            </a:lvl1pPr>
            <a:lvl2pPr marL="243139" indent="0">
              <a:buNone/>
              <a:defRPr sz="1489"/>
            </a:lvl2pPr>
            <a:lvl3pPr marL="486278" indent="0">
              <a:buNone/>
              <a:defRPr sz="1276"/>
            </a:lvl3pPr>
            <a:lvl4pPr marL="729417" indent="0">
              <a:buNone/>
              <a:defRPr sz="1064"/>
            </a:lvl4pPr>
            <a:lvl5pPr marL="972556" indent="0">
              <a:buNone/>
              <a:defRPr sz="1064"/>
            </a:lvl5pPr>
            <a:lvl6pPr marL="1215695" indent="0">
              <a:buNone/>
              <a:defRPr sz="1064"/>
            </a:lvl6pPr>
            <a:lvl7pPr marL="1458834" indent="0">
              <a:buNone/>
              <a:defRPr sz="1064"/>
            </a:lvl7pPr>
            <a:lvl8pPr marL="1701973" indent="0">
              <a:buNone/>
              <a:defRPr sz="1064"/>
            </a:lvl8pPr>
            <a:lvl9pPr marL="1945112" indent="0">
              <a:buNone/>
              <a:defRPr sz="1064"/>
            </a:lvl9pPr>
          </a:lstStyle>
          <a:p>
            <a:endParaRPr lang="en-US"/>
          </a:p>
        </p:txBody>
      </p:sp>
      <p:sp>
        <p:nvSpPr>
          <p:cNvPr id="4" name="Text Placeholder 3">
            <a:extLst>
              <a:ext uri="{FF2B5EF4-FFF2-40B4-BE49-F238E27FC236}">
                <a16:creationId xmlns:a16="http://schemas.microsoft.com/office/drawing/2014/main" id="{E681CAA5-4E49-1FF5-001F-D30E4655F917}"/>
              </a:ext>
            </a:extLst>
          </p:cNvPr>
          <p:cNvSpPr>
            <a:spLocks noGrp="1"/>
          </p:cNvSpPr>
          <p:nvPr>
            <p:ph type="body" sz="half" idx="2"/>
          </p:nvPr>
        </p:nvSpPr>
        <p:spPr>
          <a:xfrm>
            <a:off x="446575" y="2606040"/>
            <a:ext cx="2091049" cy="4828011"/>
          </a:xfrm>
        </p:spPr>
        <p:txBody>
          <a:bodyPr/>
          <a:lstStyle>
            <a:lvl1pPr marL="0" indent="0">
              <a:buNone/>
              <a:defRPr sz="851"/>
            </a:lvl1pPr>
            <a:lvl2pPr marL="243139" indent="0">
              <a:buNone/>
              <a:defRPr sz="745"/>
            </a:lvl2pPr>
            <a:lvl3pPr marL="486278" indent="0">
              <a:buNone/>
              <a:defRPr sz="638"/>
            </a:lvl3pPr>
            <a:lvl4pPr marL="729417" indent="0">
              <a:buNone/>
              <a:defRPr sz="532"/>
            </a:lvl4pPr>
            <a:lvl5pPr marL="972556" indent="0">
              <a:buNone/>
              <a:defRPr sz="532"/>
            </a:lvl5pPr>
            <a:lvl6pPr marL="1215695" indent="0">
              <a:buNone/>
              <a:defRPr sz="532"/>
            </a:lvl6pPr>
            <a:lvl7pPr marL="1458834" indent="0">
              <a:buNone/>
              <a:defRPr sz="532"/>
            </a:lvl7pPr>
            <a:lvl8pPr marL="1701973" indent="0">
              <a:buNone/>
              <a:defRPr sz="532"/>
            </a:lvl8pPr>
            <a:lvl9pPr marL="1945112" indent="0">
              <a:buNone/>
              <a:defRPr sz="532"/>
            </a:lvl9pPr>
          </a:lstStyle>
          <a:p>
            <a:pPr lvl="0"/>
            <a:r>
              <a:rPr lang="en-US"/>
              <a:t>Click to edit Master text styles</a:t>
            </a:r>
          </a:p>
        </p:txBody>
      </p:sp>
      <p:sp>
        <p:nvSpPr>
          <p:cNvPr id="5" name="Date Placeholder 4">
            <a:extLst>
              <a:ext uri="{FF2B5EF4-FFF2-40B4-BE49-F238E27FC236}">
                <a16:creationId xmlns:a16="http://schemas.microsoft.com/office/drawing/2014/main" id="{9C00763C-B06F-3FCD-9B18-C501D1E1BCC8}"/>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6" name="Footer Placeholder 5">
            <a:extLst>
              <a:ext uri="{FF2B5EF4-FFF2-40B4-BE49-F238E27FC236}">
                <a16:creationId xmlns:a16="http://schemas.microsoft.com/office/drawing/2014/main" id="{FAD2C11F-AE5D-C0A3-C19C-803C78964E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7DD4E7-5AE8-4532-2E7D-3BB07945FBF7}"/>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1753726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C2C18-D920-BF62-A7DB-3CEEEE9AC3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79FC7A-D9BD-9256-74AF-2228E1F5EB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E1911-7BCC-EEDB-A765-5ED4FFE73A98}"/>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5" name="Footer Placeholder 4">
            <a:extLst>
              <a:ext uri="{FF2B5EF4-FFF2-40B4-BE49-F238E27FC236}">
                <a16:creationId xmlns:a16="http://schemas.microsoft.com/office/drawing/2014/main" id="{6AE3B080-95AE-8916-6C04-D25BF869DD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7B89A6-99A7-E4A8-D2E7-7530CFCD4D53}"/>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771686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84D8F5-A925-9C61-82B2-1FEBD6F13088}"/>
              </a:ext>
            </a:extLst>
          </p:cNvPr>
          <p:cNvSpPr>
            <a:spLocks noGrp="1"/>
          </p:cNvSpPr>
          <p:nvPr>
            <p:ph type="title" orient="vert"/>
          </p:nvPr>
        </p:nvSpPr>
        <p:spPr>
          <a:xfrm>
            <a:off x="4639648" y="462492"/>
            <a:ext cx="1397972" cy="736166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64A292-67BE-81D4-FB29-45BE1DEA185C}"/>
              </a:ext>
            </a:extLst>
          </p:cNvPr>
          <p:cNvSpPr>
            <a:spLocks noGrp="1"/>
          </p:cNvSpPr>
          <p:nvPr>
            <p:ph type="body" orient="vert" idx="1"/>
          </p:nvPr>
        </p:nvSpPr>
        <p:spPr>
          <a:xfrm>
            <a:off x="445730" y="462492"/>
            <a:ext cx="4112875" cy="736166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BA4236-0CA3-0D65-05BB-9891EE2CC46D}"/>
              </a:ext>
            </a:extLst>
          </p:cNvPr>
          <p:cNvSpPr>
            <a:spLocks noGrp="1"/>
          </p:cNvSpPr>
          <p:nvPr>
            <p:ph type="dt" sz="half" idx="10"/>
          </p:nvPr>
        </p:nvSpPr>
        <p:spPr/>
        <p:txBody>
          <a:bodyPr/>
          <a:lstStyle/>
          <a:p>
            <a:fld id="{15B68A90-58EA-4EA1-B93B-574EEDF66244}" type="datetimeFigureOut">
              <a:rPr lang="en-US" smtClean="0"/>
              <a:t>9/6/2026</a:t>
            </a:fld>
            <a:endParaRPr lang="en-US"/>
          </a:p>
        </p:txBody>
      </p:sp>
      <p:sp>
        <p:nvSpPr>
          <p:cNvPr id="5" name="Footer Placeholder 4">
            <a:extLst>
              <a:ext uri="{FF2B5EF4-FFF2-40B4-BE49-F238E27FC236}">
                <a16:creationId xmlns:a16="http://schemas.microsoft.com/office/drawing/2014/main" id="{A6A4C3BC-A202-33B2-FBC8-C4DE5A009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46EFFB-9BEE-FD9A-4C49-F0A6BFE4B01B}"/>
              </a:ext>
            </a:extLst>
          </p:cNvPr>
          <p:cNvSpPr>
            <a:spLocks noGrp="1"/>
          </p:cNvSpPr>
          <p:nvPr>
            <p:ph type="sldNum" sz="quarter" idx="12"/>
          </p:nvPr>
        </p:nvSpPr>
        <p:spPr/>
        <p:txBody>
          <a:bodyPr/>
          <a:lstStyle/>
          <a:p>
            <a:fld id="{39E1F3C2-6339-449B-B91B-B3E12292BD5A}" type="slidenum">
              <a:rPr lang="en-US" smtClean="0"/>
              <a:t>‹#›</a:t>
            </a:fld>
            <a:endParaRPr lang="en-US"/>
          </a:p>
        </p:txBody>
      </p:sp>
    </p:spTree>
    <p:extLst>
      <p:ext uri="{BB962C8B-B14F-4D97-AF65-F5344CB8AC3E}">
        <p14:creationId xmlns:p14="http://schemas.microsoft.com/office/powerpoint/2010/main" val="3149688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3A5D1-4BD3-F7E2-908F-7EEB28EF7DD9}"/>
              </a:ext>
            </a:extLst>
          </p:cNvPr>
          <p:cNvSpPr>
            <a:spLocks noGrp="1"/>
          </p:cNvSpPr>
          <p:nvPr>
            <p:ph type="title"/>
          </p:nvPr>
        </p:nvSpPr>
        <p:spPr>
          <a:xfrm>
            <a:off x="445731" y="462493"/>
            <a:ext cx="5591889" cy="167904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F44371-EEF2-2AE7-4F1F-5C840387D0FC}"/>
              </a:ext>
            </a:extLst>
          </p:cNvPr>
          <p:cNvSpPr>
            <a:spLocks noGrp="1"/>
          </p:cNvSpPr>
          <p:nvPr>
            <p:ph type="body" idx="1"/>
          </p:nvPr>
        </p:nvSpPr>
        <p:spPr>
          <a:xfrm>
            <a:off x="445731" y="2312458"/>
            <a:ext cx="5591889" cy="551169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CF4AAB-A5FD-6E99-1BB7-12F943BE0C00}"/>
              </a:ext>
            </a:extLst>
          </p:cNvPr>
          <p:cNvSpPr>
            <a:spLocks noGrp="1"/>
          </p:cNvSpPr>
          <p:nvPr>
            <p:ph type="dt" sz="half" idx="2"/>
          </p:nvPr>
        </p:nvSpPr>
        <p:spPr>
          <a:xfrm>
            <a:off x="445730" y="8051377"/>
            <a:ext cx="1458754" cy="462492"/>
          </a:xfrm>
          <a:prstGeom prst="rect">
            <a:avLst/>
          </a:prstGeom>
        </p:spPr>
        <p:txBody>
          <a:bodyPr vert="horz" lIns="91440" tIns="45720" rIns="91440" bIns="45720" rtlCol="0" anchor="ctr"/>
          <a:lstStyle>
            <a:lvl1pPr algn="l">
              <a:defRPr sz="638">
                <a:solidFill>
                  <a:schemeClr val="tx1">
                    <a:tint val="82000"/>
                  </a:schemeClr>
                </a:solidFill>
              </a:defRPr>
            </a:lvl1pPr>
          </a:lstStyle>
          <a:p>
            <a:fld id="{15B68A90-58EA-4EA1-B93B-574EEDF66244}" type="datetimeFigureOut">
              <a:rPr lang="en-US" smtClean="0"/>
              <a:t>9/6/2026</a:t>
            </a:fld>
            <a:endParaRPr lang="en-US"/>
          </a:p>
        </p:txBody>
      </p:sp>
      <p:sp>
        <p:nvSpPr>
          <p:cNvPr id="5" name="Footer Placeholder 4">
            <a:extLst>
              <a:ext uri="{FF2B5EF4-FFF2-40B4-BE49-F238E27FC236}">
                <a16:creationId xmlns:a16="http://schemas.microsoft.com/office/drawing/2014/main" id="{3D253D8B-A326-2019-A74E-F8EC0A519D9C}"/>
              </a:ext>
            </a:extLst>
          </p:cNvPr>
          <p:cNvSpPr>
            <a:spLocks noGrp="1"/>
          </p:cNvSpPr>
          <p:nvPr>
            <p:ph type="ftr" sz="quarter" idx="3"/>
          </p:nvPr>
        </p:nvSpPr>
        <p:spPr>
          <a:xfrm>
            <a:off x="2147610" y="8051377"/>
            <a:ext cx="2188131" cy="462492"/>
          </a:xfrm>
          <a:prstGeom prst="rect">
            <a:avLst/>
          </a:prstGeom>
        </p:spPr>
        <p:txBody>
          <a:bodyPr vert="horz" lIns="91440" tIns="45720" rIns="91440" bIns="45720" rtlCol="0" anchor="ctr"/>
          <a:lstStyle>
            <a:lvl1pPr algn="ctr">
              <a:defRPr sz="638">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AAE8C11-F44A-CE81-725C-DAFFD3BC0CAB}"/>
              </a:ext>
            </a:extLst>
          </p:cNvPr>
          <p:cNvSpPr>
            <a:spLocks noGrp="1"/>
          </p:cNvSpPr>
          <p:nvPr>
            <p:ph type="sldNum" sz="quarter" idx="4"/>
          </p:nvPr>
        </p:nvSpPr>
        <p:spPr>
          <a:xfrm>
            <a:off x="4578866" y="8051377"/>
            <a:ext cx="1458754" cy="462492"/>
          </a:xfrm>
          <a:prstGeom prst="rect">
            <a:avLst/>
          </a:prstGeom>
        </p:spPr>
        <p:txBody>
          <a:bodyPr vert="horz" lIns="91440" tIns="45720" rIns="91440" bIns="45720" rtlCol="0" anchor="ctr"/>
          <a:lstStyle>
            <a:lvl1pPr algn="r">
              <a:defRPr sz="638">
                <a:solidFill>
                  <a:schemeClr val="tx1">
                    <a:tint val="82000"/>
                  </a:schemeClr>
                </a:solidFill>
              </a:defRPr>
            </a:lvl1pPr>
          </a:lstStyle>
          <a:p>
            <a:fld id="{39E1F3C2-6339-449B-B91B-B3E12292BD5A}" type="slidenum">
              <a:rPr lang="en-US" smtClean="0"/>
              <a:t>‹#›</a:t>
            </a:fld>
            <a:endParaRPr lang="en-US"/>
          </a:p>
        </p:txBody>
      </p:sp>
    </p:spTree>
    <p:extLst>
      <p:ext uri="{BB962C8B-B14F-4D97-AF65-F5344CB8AC3E}">
        <p14:creationId xmlns:p14="http://schemas.microsoft.com/office/powerpoint/2010/main" val="1760623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86278" rtl="0" eaLnBrk="1" latinLnBrk="0" hangingPunct="1">
        <a:lnSpc>
          <a:spcPct val="90000"/>
        </a:lnSpc>
        <a:spcBef>
          <a:spcPct val="0"/>
        </a:spcBef>
        <a:buNone/>
        <a:defRPr sz="2340" kern="1200">
          <a:solidFill>
            <a:schemeClr val="tx1"/>
          </a:solidFill>
          <a:latin typeface="+mj-lt"/>
          <a:ea typeface="+mj-ea"/>
          <a:cs typeface="+mj-cs"/>
        </a:defRPr>
      </a:lvl1pPr>
    </p:titleStyle>
    <p:bodyStyle>
      <a:lvl1pPr marL="121569" indent="-121569" algn="l" defTabSz="486278" rtl="0" eaLnBrk="1" latinLnBrk="0" hangingPunct="1">
        <a:lnSpc>
          <a:spcPct val="90000"/>
        </a:lnSpc>
        <a:spcBef>
          <a:spcPts val="532"/>
        </a:spcBef>
        <a:buFont typeface="Arial" panose="020B0604020202020204" pitchFamily="34" charset="0"/>
        <a:buChar char="•"/>
        <a:defRPr sz="1489" kern="1200">
          <a:solidFill>
            <a:schemeClr val="tx1"/>
          </a:solidFill>
          <a:latin typeface="+mn-lt"/>
          <a:ea typeface="+mn-ea"/>
          <a:cs typeface="+mn-cs"/>
        </a:defRPr>
      </a:lvl1pPr>
      <a:lvl2pPr marL="364708" indent="-121569" algn="l" defTabSz="486278" rtl="0" eaLnBrk="1" latinLnBrk="0" hangingPunct="1">
        <a:lnSpc>
          <a:spcPct val="90000"/>
        </a:lnSpc>
        <a:spcBef>
          <a:spcPts val="266"/>
        </a:spcBef>
        <a:buFont typeface="Arial" panose="020B0604020202020204" pitchFamily="34" charset="0"/>
        <a:buChar char="•"/>
        <a:defRPr sz="1276" kern="1200">
          <a:solidFill>
            <a:schemeClr val="tx1"/>
          </a:solidFill>
          <a:latin typeface="+mn-lt"/>
          <a:ea typeface="+mn-ea"/>
          <a:cs typeface="+mn-cs"/>
        </a:defRPr>
      </a:lvl2pPr>
      <a:lvl3pPr marL="607847" indent="-121569" algn="l" defTabSz="486278" rtl="0" eaLnBrk="1" latinLnBrk="0" hangingPunct="1">
        <a:lnSpc>
          <a:spcPct val="90000"/>
        </a:lnSpc>
        <a:spcBef>
          <a:spcPts val="266"/>
        </a:spcBef>
        <a:buFont typeface="Arial" panose="020B0604020202020204" pitchFamily="34" charset="0"/>
        <a:buChar char="•"/>
        <a:defRPr sz="1064" kern="1200">
          <a:solidFill>
            <a:schemeClr val="tx1"/>
          </a:solidFill>
          <a:latin typeface="+mn-lt"/>
          <a:ea typeface="+mn-ea"/>
          <a:cs typeface="+mn-cs"/>
        </a:defRPr>
      </a:lvl3pPr>
      <a:lvl4pPr marL="850986" indent="-121569" algn="l" defTabSz="486278" rtl="0" eaLnBrk="1" latinLnBrk="0" hangingPunct="1">
        <a:lnSpc>
          <a:spcPct val="90000"/>
        </a:lnSpc>
        <a:spcBef>
          <a:spcPts val="266"/>
        </a:spcBef>
        <a:buFont typeface="Arial" panose="020B0604020202020204" pitchFamily="34" charset="0"/>
        <a:buChar char="•"/>
        <a:defRPr sz="957" kern="1200">
          <a:solidFill>
            <a:schemeClr val="tx1"/>
          </a:solidFill>
          <a:latin typeface="+mn-lt"/>
          <a:ea typeface="+mn-ea"/>
          <a:cs typeface="+mn-cs"/>
        </a:defRPr>
      </a:lvl4pPr>
      <a:lvl5pPr marL="1094125" indent="-121569" algn="l" defTabSz="486278" rtl="0" eaLnBrk="1" latinLnBrk="0" hangingPunct="1">
        <a:lnSpc>
          <a:spcPct val="90000"/>
        </a:lnSpc>
        <a:spcBef>
          <a:spcPts val="266"/>
        </a:spcBef>
        <a:buFont typeface="Arial" panose="020B0604020202020204" pitchFamily="34" charset="0"/>
        <a:buChar char="•"/>
        <a:defRPr sz="957" kern="1200">
          <a:solidFill>
            <a:schemeClr val="tx1"/>
          </a:solidFill>
          <a:latin typeface="+mn-lt"/>
          <a:ea typeface="+mn-ea"/>
          <a:cs typeface="+mn-cs"/>
        </a:defRPr>
      </a:lvl5pPr>
      <a:lvl6pPr marL="1337264" indent="-121569" algn="l" defTabSz="486278" rtl="0" eaLnBrk="1" latinLnBrk="0" hangingPunct="1">
        <a:lnSpc>
          <a:spcPct val="90000"/>
        </a:lnSpc>
        <a:spcBef>
          <a:spcPts val="266"/>
        </a:spcBef>
        <a:buFont typeface="Arial" panose="020B0604020202020204" pitchFamily="34" charset="0"/>
        <a:buChar char="•"/>
        <a:defRPr sz="957" kern="1200">
          <a:solidFill>
            <a:schemeClr val="tx1"/>
          </a:solidFill>
          <a:latin typeface="+mn-lt"/>
          <a:ea typeface="+mn-ea"/>
          <a:cs typeface="+mn-cs"/>
        </a:defRPr>
      </a:lvl6pPr>
      <a:lvl7pPr marL="1580403" indent="-121569" algn="l" defTabSz="486278" rtl="0" eaLnBrk="1" latinLnBrk="0" hangingPunct="1">
        <a:lnSpc>
          <a:spcPct val="90000"/>
        </a:lnSpc>
        <a:spcBef>
          <a:spcPts val="266"/>
        </a:spcBef>
        <a:buFont typeface="Arial" panose="020B0604020202020204" pitchFamily="34" charset="0"/>
        <a:buChar char="•"/>
        <a:defRPr sz="957" kern="1200">
          <a:solidFill>
            <a:schemeClr val="tx1"/>
          </a:solidFill>
          <a:latin typeface="+mn-lt"/>
          <a:ea typeface="+mn-ea"/>
          <a:cs typeface="+mn-cs"/>
        </a:defRPr>
      </a:lvl7pPr>
      <a:lvl8pPr marL="1823542" indent="-121569" algn="l" defTabSz="486278" rtl="0" eaLnBrk="1" latinLnBrk="0" hangingPunct="1">
        <a:lnSpc>
          <a:spcPct val="90000"/>
        </a:lnSpc>
        <a:spcBef>
          <a:spcPts val="266"/>
        </a:spcBef>
        <a:buFont typeface="Arial" panose="020B0604020202020204" pitchFamily="34" charset="0"/>
        <a:buChar char="•"/>
        <a:defRPr sz="957" kern="1200">
          <a:solidFill>
            <a:schemeClr val="tx1"/>
          </a:solidFill>
          <a:latin typeface="+mn-lt"/>
          <a:ea typeface="+mn-ea"/>
          <a:cs typeface="+mn-cs"/>
        </a:defRPr>
      </a:lvl8pPr>
      <a:lvl9pPr marL="2066681" indent="-121569" algn="l" defTabSz="486278" rtl="0" eaLnBrk="1" latinLnBrk="0" hangingPunct="1">
        <a:lnSpc>
          <a:spcPct val="90000"/>
        </a:lnSpc>
        <a:spcBef>
          <a:spcPts val="266"/>
        </a:spcBef>
        <a:buFont typeface="Arial" panose="020B0604020202020204" pitchFamily="34" charset="0"/>
        <a:buChar char="•"/>
        <a:defRPr sz="957" kern="1200">
          <a:solidFill>
            <a:schemeClr val="tx1"/>
          </a:solidFill>
          <a:latin typeface="+mn-lt"/>
          <a:ea typeface="+mn-ea"/>
          <a:cs typeface="+mn-cs"/>
        </a:defRPr>
      </a:lvl9pPr>
    </p:bodyStyle>
    <p:otherStyle>
      <a:defPPr>
        <a:defRPr lang="en-US"/>
      </a:defPPr>
      <a:lvl1pPr marL="0" algn="l" defTabSz="486278" rtl="0" eaLnBrk="1" latinLnBrk="0" hangingPunct="1">
        <a:defRPr sz="957" kern="1200">
          <a:solidFill>
            <a:schemeClr val="tx1"/>
          </a:solidFill>
          <a:latin typeface="+mn-lt"/>
          <a:ea typeface="+mn-ea"/>
          <a:cs typeface="+mn-cs"/>
        </a:defRPr>
      </a:lvl1pPr>
      <a:lvl2pPr marL="243139" algn="l" defTabSz="486278" rtl="0" eaLnBrk="1" latinLnBrk="0" hangingPunct="1">
        <a:defRPr sz="957" kern="1200">
          <a:solidFill>
            <a:schemeClr val="tx1"/>
          </a:solidFill>
          <a:latin typeface="+mn-lt"/>
          <a:ea typeface="+mn-ea"/>
          <a:cs typeface="+mn-cs"/>
        </a:defRPr>
      </a:lvl2pPr>
      <a:lvl3pPr marL="486278" algn="l" defTabSz="486278" rtl="0" eaLnBrk="1" latinLnBrk="0" hangingPunct="1">
        <a:defRPr sz="957" kern="1200">
          <a:solidFill>
            <a:schemeClr val="tx1"/>
          </a:solidFill>
          <a:latin typeface="+mn-lt"/>
          <a:ea typeface="+mn-ea"/>
          <a:cs typeface="+mn-cs"/>
        </a:defRPr>
      </a:lvl3pPr>
      <a:lvl4pPr marL="729417" algn="l" defTabSz="486278" rtl="0" eaLnBrk="1" latinLnBrk="0" hangingPunct="1">
        <a:defRPr sz="957" kern="1200">
          <a:solidFill>
            <a:schemeClr val="tx1"/>
          </a:solidFill>
          <a:latin typeface="+mn-lt"/>
          <a:ea typeface="+mn-ea"/>
          <a:cs typeface="+mn-cs"/>
        </a:defRPr>
      </a:lvl4pPr>
      <a:lvl5pPr marL="972556" algn="l" defTabSz="486278" rtl="0" eaLnBrk="1" latinLnBrk="0" hangingPunct="1">
        <a:defRPr sz="957" kern="1200">
          <a:solidFill>
            <a:schemeClr val="tx1"/>
          </a:solidFill>
          <a:latin typeface="+mn-lt"/>
          <a:ea typeface="+mn-ea"/>
          <a:cs typeface="+mn-cs"/>
        </a:defRPr>
      </a:lvl5pPr>
      <a:lvl6pPr marL="1215695" algn="l" defTabSz="486278" rtl="0" eaLnBrk="1" latinLnBrk="0" hangingPunct="1">
        <a:defRPr sz="957" kern="1200">
          <a:solidFill>
            <a:schemeClr val="tx1"/>
          </a:solidFill>
          <a:latin typeface="+mn-lt"/>
          <a:ea typeface="+mn-ea"/>
          <a:cs typeface="+mn-cs"/>
        </a:defRPr>
      </a:lvl6pPr>
      <a:lvl7pPr marL="1458834" algn="l" defTabSz="486278" rtl="0" eaLnBrk="1" latinLnBrk="0" hangingPunct="1">
        <a:defRPr sz="957" kern="1200">
          <a:solidFill>
            <a:schemeClr val="tx1"/>
          </a:solidFill>
          <a:latin typeface="+mn-lt"/>
          <a:ea typeface="+mn-ea"/>
          <a:cs typeface="+mn-cs"/>
        </a:defRPr>
      </a:lvl7pPr>
      <a:lvl8pPr marL="1701973" algn="l" defTabSz="486278" rtl="0" eaLnBrk="1" latinLnBrk="0" hangingPunct="1">
        <a:defRPr sz="957" kern="1200">
          <a:solidFill>
            <a:schemeClr val="tx1"/>
          </a:solidFill>
          <a:latin typeface="+mn-lt"/>
          <a:ea typeface="+mn-ea"/>
          <a:cs typeface="+mn-cs"/>
        </a:defRPr>
      </a:lvl8pPr>
      <a:lvl9pPr marL="1945112" algn="l" defTabSz="486278" rtl="0" eaLnBrk="1" latinLnBrk="0" hangingPunct="1">
        <a:defRPr sz="95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3D42BD-CBE9-DB96-5604-6471C401FC09}"/>
              </a:ext>
            </a:extLst>
          </p:cNvPr>
          <p:cNvSpPr/>
          <p:nvPr/>
        </p:nvSpPr>
        <p:spPr>
          <a:xfrm>
            <a:off x="-15851" y="1842922"/>
            <a:ext cx="1704174" cy="215444"/>
          </a:xfrm>
          <a:prstGeom prst="rect">
            <a:avLst/>
          </a:prstGeom>
        </p:spPr>
        <p:txBody>
          <a:bodyPr wrap="square">
            <a:spAutoFit/>
          </a:bodyPr>
          <a:lstStyle/>
          <a:p>
            <a:r>
              <a:rPr lang="it-IT" sz="800" dirty="0">
                <a:latin typeface="Amasis MT Pro" panose="02040504050005020304" pitchFamily="18" charset="0"/>
              </a:rPr>
              <a:t>E11.5 limb GLI3 log2(ChIP/Input)</a:t>
            </a:r>
            <a:endParaRPr lang="en-US" sz="800" dirty="0">
              <a:latin typeface="Amasis MT Pro" panose="02040504050005020304" pitchFamily="18" charset="0"/>
              <a:cs typeface="Arial" panose="020B0604020202020204" pitchFamily="34" charset="0"/>
            </a:endParaRPr>
          </a:p>
        </p:txBody>
      </p:sp>
      <p:sp>
        <p:nvSpPr>
          <p:cNvPr id="5" name="TextBox 4">
            <a:extLst>
              <a:ext uri="{FF2B5EF4-FFF2-40B4-BE49-F238E27FC236}">
                <a16:creationId xmlns:a16="http://schemas.microsoft.com/office/drawing/2014/main" id="{40AD80B7-15F8-543F-9BD1-8526E9B4ACC8}"/>
              </a:ext>
            </a:extLst>
          </p:cNvPr>
          <p:cNvSpPr txBox="1"/>
          <p:nvPr/>
        </p:nvSpPr>
        <p:spPr>
          <a:xfrm>
            <a:off x="177973" y="2134211"/>
            <a:ext cx="1594116"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Gli3 limb enhancers (intronic)</a:t>
            </a:r>
          </a:p>
        </p:txBody>
      </p:sp>
      <p:sp>
        <p:nvSpPr>
          <p:cNvPr id="7" name="Rectangle 1">
            <a:extLst>
              <a:ext uri="{FF2B5EF4-FFF2-40B4-BE49-F238E27FC236}">
                <a16:creationId xmlns:a16="http://schemas.microsoft.com/office/drawing/2014/main" id="{86F0C0E7-D072-2820-456F-AF1583F1D668}"/>
              </a:ext>
            </a:extLst>
          </p:cNvPr>
          <p:cNvSpPr>
            <a:spLocks noChangeArrowheads="1"/>
          </p:cNvSpPr>
          <p:nvPr/>
        </p:nvSpPr>
        <p:spPr bwMode="auto">
          <a:xfrm>
            <a:off x="118149" y="2380810"/>
            <a:ext cx="1687843" cy="215444"/>
          </a:xfrm>
          <a:prstGeom prst="rect">
            <a:avLst/>
          </a:prstGeom>
        </p:spPr>
        <p:txBody>
          <a:bodyPr wrap="square">
            <a:spAutoFit/>
          </a:bodyPr>
          <a:lstStyle/>
          <a:p>
            <a:r>
              <a:rPr lang="en-US" altLang="en-US" sz="800" dirty="0">
                <a:latin typeface="Amasis MT Pro" panose="020F0502020204030204" pitchFamily="18" charset="0"/>
                <a:cs typeface="Arial" panose="020B0604020202020204" pitchFamily="34" charset="0"/>
              </a:rPr>
              <a:t>Gli3 limb enhancers (upstream)</a:t>
            </a:r>
          </a:p>
        </p:txBody>
      </p:sp>
      <p:sp>
        <p:nvSpPr>
          <p:cNvPr id="10" name="TextBox 9">
            <a:extLst>
              <a:ext uri="{FF2B5EF4-FFF2-40B4-BE49-F238E27FC236}">
                <a16:creationId xmlns:a16="http://schemas.microsoft.com/office/drawing/2014/main" id="{CB585326-4254-E4F6-1B22-604E2F438609}"/>
              </a:ext>
            </a:extLst>
          </p:cNvPr>
          <p:cNvSpPr txBox="1"/>
          <p:nvPr/>
        </p:nvSpPr>
        <p:spPr>
          <a:xfrm>
            <a:off x="1565561" y="916018"/>
            <a:ext cx="3020282"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Chr13 [(mm10, E11.5 limb) :12,683,013-16,244,221]</a:t>
            </a:r>
          </a:p>
        </p:txBody>
      </p:sp>
      <p:sp>
        <p:nvSpPr>
          <p:cNvPr id="8" name="Rectangle 7">
            <a:extLst>
              <a:ext uri="{FF2B5EF4-FFF2-40B4-BE49-F238E27FC236}">
                <a16:creationId xmlns:a16="http://schemas.microsoft.com/office/drawing/2014/main" id="{10A272DB-4370-0413-0A0E-FE9E057A474E}"/>
              </a:ext>
            </a:extLst>
          </p:cNvPr>
          <p:cNvSpPr/>
          <p:nvPr/>
        </p:nvSpPr>
        <p:spPr>
          <a:xfrm>
            <a:off x="863924" y="1220002"/>
            <a:ext cx="780983" cy="215444"/>
          </a:xfrm>
          <a:prstGeom prst="rect">
            <a:avLst/>
          </a:prstGeom>
        </p:spPr>
        <p:txBody>
          <a:bodyPr wrap="square">
            <a:spAutoFit/>
          </a:bodyPr>
          <a:lstStyle/>
          <a:p>
            <a:r>
              <a:rPr lang="en-US" sz="800" dirty="0" err="1">
                <a:latin typeface="Amasis MT Pro" panose="020F0502020204030204" pitchFamily="18" charset="0"/>
                <a:cs typeface="Arial" panose="020B0604020202020204" pitchFamily="34" charset="0"/>
              </a:rPr>
              <a:t>Refseq</a:t>
            </a:r>
            <a:r>
              <a:rPr lang="en-US" sz="800" dirty="0">
                <a:latin typeface="Amasis MT Pro" panose="020F0502020204030204" pitchFamily="18" charset="0"/>
                <a:cs typeface="Arial" panose="020B0604020202020204" pitchFamily="34" charset="0"/>
              </a:rPr>
              <a:t> Genes</a:t>
            </a:r>
          </a:p>
        </p:txBody>
      </p:sp>
      <p:sp>
        <p:nvSpPr>
          <p:cNvPr id="11" name="TextBox 10">
            <a:extLst>
              <a:ext uri="{FF2B5EF4-FFF2-40B4-BE49-F238E27FC236}">
                <a16:creationId xmlns:a16="http://schemas.microsoft.com/office/drawing/2014/main" id="{BBD8DA68-5D47-4E70-5D97-0192D5229C62}"/>
              </a:ext>
            </a:extLst>
          </p:cNvPr>
          <p:cNvSpPr txBox="1"/>
          <p:nvPr/>
        </p:nvSpPr>
        <p:spPr>
          <a:xfrm>
            <a:off x="5998036" y="1084724"/>
            <a:ext cx="437940"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inhba</a:t>
            </a:r>
          </a:p>
        </p:txBody>
      </p:sp>
      <p:sp>
        <p:nvSpPr>
          <p:cNvPr id="12" name="TextBox 11">
            <a:extLst>
              <a:ext uri="{FF2B5EF4-FFF2-40B4-BE49-F238E27FC236}">
                <a16:creationId xmlns:a16="http://schemas.microsoft.com/office/drawing/2014/main" id="{71AF1D90-7FF9-E5DF-098C-7D59B9F4F7EA}"/>
              </a:ext>
            </a:extLst>
          </p:cNvPr>
          <p:cNvSpPr txBox="1"/>
          <p:nvPr/>
        </p:nvSpPr>
        <p:spPr>
          <a:xfrm>
            <a:off x="5464291" y="1072024"/>
            <a:ext cx="367408"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Gli3</a:t>
            </a:r>
          </a:p>
        </p:txBody>
      </p:sp>
      <p:sp>
        <p:nvSpPr>
          <p:cNvPr id="13" name="TextBox 12">
            <a:extLst>
              <a:ext uri="{FF2B5EF4-FFF2-40B4-BE49-F238E27FC236}">
                <a16:creationId xmlns:a16="http://schemas.microsoft.com/office/drawing/2014/main" id="{66506E0B-46FA-D6D7-F1F6-1C33DDF70071}"/>
              </a:ext>
            </a:extLst>
          </p:cNvPr>
          <p:cNvSpPr txBox="1"/>
          <p:nvPr/>
        </p:nvSpPr>
        <p:spPr>
          <a:xfrm>
            <a:off x="3956459" y="1073846"/>
            <a:ext cx="498855"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mrpl32</a:t>
            </a:r>
          </a:p>
        </p:txBody>
      </p:sp>
      <p:sp>
        <p:nvSpPr>
          <p:cNvPr id="14" name="TextBox 13">
            <a:extLst>
              <a:ext uri="{FF2B5EF4-FFF2-40B4-BE49-F238E27FC236}">
                <a16:creationId xmlns:a16="http://schemas.microsoft.com/office/drawing/2014/main" id="{91552674-BCA6-CBF7-45BC-AB6ACCFA6F11}"/>
              </a:ext>
            </a:extLst>
          </p:cNvPr>
          <p:cNvSpPr txBox="1"/>
          <p:nvPr/>
        </p:nvSpPr>
        <p:spPr>
          <a:xfrm>
            <a:off x="1567675" y="1073932"/>
            <a:ext cx="465192"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prl2c2</a:t>
            </a:r>
          </a:p>
        </p:txBody>
      </p:sp>
      <p:sp>
        <p:nvSpPr>
          <p:cNvPr id="15" name="TextBox 14">
            <a:extLst>
              <a:ext uri="{FF2B5EF4-FFF2-40B4-BE49-F238E27FC236}">
                <a16:creationId xmlns:a16="http://schemas.microsoft.com/office/drawing/2014/main" id="{9E9F824D-5FB6-085E-22ED-B87C4695B59B}"/>
              </a:ext>
            </a:extLst>
          </p:cNvPr>
          <p:cNvSpPr txBox="1"/>
          <p:nvPr/>
        </p:nvSpPr>
        <p:spPr>
          <a:xfrm>
            <a:off x="2065983" y="1073932"/>
            <a:ext cx="587020"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Gpr137b</a:t>
            </a:r>
          </a:p>
        </p:txBody>
      </p:sp>
      <p:sp>
        <p:nvSpPr>
          <p:cNvPr id="16" name="TextBox 15">
            <a:extLst>
              <a:ext uri="{FF2B5EF4-FFF2-40B4-BE49-F238E27FC236}">
                <a16:creationId xmlns:a16="http://schemas.microsoft.com/office/drawing/2014/main" id="{A6B88D23-462B-B63F-D131-2FE8CFC7C505}"/>
              </a:ext>
            </a:extLst>
          </p:cNvPr>
          <p:cNvSpPr txBox="1"/>
          <p:nvPr/>
        </p:nvSpPr>
        <p:spPr>
          <a:xfrm>
            <a:off x="3545968" y="1079459"/>
            <a:ext cx="498855"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Hecw1</a:t>
            </a:r>
          </a:p>
        </p:txBody>
      </p:sp>
      <p:sp>
        <p:nvSpPr>
          <p:cNvPr id="18" name="TextBox 17">
            <a:extLst>
              <a:ext uri="{FF2B5EF4-FFF2-40B4-BE49-F238E27FC236}">
                <a16:creationId xmlns:a16="http://schemas.microsoft.com/office/drawing/2014/main" id="{F9CB9F81-3268-BAF8-BE3D-3977CC1B0954}"/>
              </a:ext>
            </a:extLst>
          </p:cNvPr>
          <p:cNvSpPr txBox="1"/>
          <p:nvPr/>
        </p:nvSpPr>
        <p:spPr>
          <a:xfrm>
            <a:off x="140246" y="907998"/>
            <a:ext cx="596934"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A</a:t>
            </a:r>
          </a:p>
        </p:txBody>
      </p:sp>
      <p:grpSp>
        <p:nvGrpSpPr>
          <p:cNvPr id="21" name="Group 20">
            <a:extLst>
              <a:ext uri="{FF2B5EF4-FFF2-40B4-BE49-F238E27FC236}">
                <a16:creationId xmlns:a16="http://schemas.microsoft.com/office/drawing/2014/main" id="{018424DD-88B1-039F-B793-445017FF8AC8}"/>
              </a:ext>
            </a:extLst>
          </p:cNvPr>
          <p:cNvGrpSpPr/>
          <p:nvPr/>
        </p:nvGrpSpPr>
        <p:grpSpPr>
          <a:xfrm>
            <a:off x="1577340" y="2807208"/>
            <a:ext cx="4800727" cy="722418"/>
            <a:chOff x="1817983" y="2458454"/>
            <a:chExt cx="4415430" cy="722418"/>
          </a:xfrm>
        </p:grpSpPr>
        <p:cxnSp>
          <p:nvCxnSpPr>
            <p:cNvPr id="22" name="Straight Connector 21">
              <a:extLst>
                <a:ext uri="{FF2B5EF4-FFF2-40B4-BE49-F238E27FC236}">
                  <a16:creationId xmlns:a16="http://schemas.microsoft.com/office/drawing/2014/main" id="{0222AE6B-7B51-7D5F-42C5-EDC7E2F369BA}"/>
                </a:ext>
              </a:extLst>
            </p:cNvPr>
            <p:cNvCxnSpPr>
              <a:cxnSpLocks/>
            </p:cNvCxnSpPr>
            <p:nvPr/>
          </p:nvCxnSpPr>
          <p:spPr>
            <a:xfrm>
              <a:off x="5831077" y="2464701"/>
              <a:ext cx="0" cy="429768"/>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18C0195-06CC-0E8F-3685-891271E17E91}"/>
                </a:ext>
              </a:extLst>
            </p:cNvPr>
            <p:cNvCxnSpPr>
              <a:cxnSpLocks/>
            </p:cNvCxnSpPr>
            <p:nvPr/>
          </p:nvCxnSpPr>
          <p:spPr>
            <a:xfrm>
              <a:off x="5395656" y="2458454"/>
              <a:ext cx="0" cy="433684"/>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CEB9160-B8AC-C8ED-C487-DB52CA46C7C7}"/>
                </a:ext>
              </a:extLst>
            </p:cNvPr>
            <p:cNvCxnSpPr>
              <a:cxnSpLocks/>
            </p:cNvCxnSpPr>
            <p:nvPr/>
          </p:nvCxnSpPr>
          <p:spPr>
            <a:xfrm flipH="1">
              <a:off x="5831077" y="2877850"/>
              <a:ext cx="402336" cy="0"/>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40647F2-9870-4179-FA8A-83BB941A8EE0}"/>
                </a:ext>
              </a:extLst>
            </p:cNvPr>
            <p:cNvCxnSpPr>
              <a:cxnSpLocks/>
            </p:cNvCxnSpPr>
            <p:nvPr/>
          </p:nvCxnSpPr>
          <p:spPr>
            <a:xfrm>
              <a:off x="6233413" y="2877850"/>
              <a:ext cx="0" cy="279527"/>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5A394BC-6707-6FF2-ED47-FBF3DCE3E7F2}"/>
                </a:ext>
              </a:extLst>
            </p:cNvPr>
            <p:cNvCxnSpPr>
              <a:cxnSpLocks/>
            </p:cNvCxnSpPr>
            <p:nvPr/>
          </p:nvCxnSpPr>
          <p:spPr>
            <a:xfrm flipH="1">
              <a:off x="1817983" y="2870033"/>
              <a:ext cx="3524368" cy="22105"/>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47E2A167-A1FF-F4D7-294B-C698773DB1DD}"/>
                </a:ext>
              </a:extLst>
            </p:cNvPr>
            <p:cNvCxnSpPr>
              <a:cxnSpLocks/>
            </p:cNvCxnSpPr>
            <p:nvPr/>
          </p:nvCxnSpPr>
          <p:spPr>
            <a:xfrm>
              <a:off x="1823713" y="2901345"/>
              <a:ext cx="0" cy="279527"/>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grpSp>
      <p:sp>
        <p:nvSpPr>
          <p:cNvPr id="28" name="TextBox 27">
            <a:extLst>
              <a:ext uri="{FF2B5EF4-FFF2-40B4-BE49-F238E27FC236}">
                <a16:creationId xmlns:a16="http://schemas.microsoft.com/office/drawing/2014/main" id="{CCBA1023-ED45-B6E4-7855-38368EEB7328}"/>
              </a:ext>
            </a:extLst>
          </p:cNvPr>
          <p:cNvSpPr txBox="1"/>
          <p:nvPr/>
        </p:nvSpPr>
        <p:spPr>
          <a:xfrm>
            <a:off x="3749238" y="3383675"/>
            <a:ext cx="367408"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Gli3</a:t>
            </a:r>
          </a:p>
        </p:txBody>
      </p:sp>
      <p:sp>
        <p:nvSpPr>
          <p:cNvPr id="54" name="TextBox 53">
            <a:extLst>
              <a:ext uri="{FF2B5EF4-FFF2-40B4-BE49-F238E27FC236}">
                <a16:creationId xmlns:a16="http://schemas.microsoft.com/office/drawing/2014/main" id="{97B9116A-350C-93CF-89C9-69122C21EFA2}"/>
              </a:ext>
            </a:extLst>
          </p:cNvPr>
          <p:cNvSpPr txBox="1"/>
          <p:nvPr/>
        </p:nvSpPr>
        <p:spPr>
          <a:xfrm>
            <a:off x="124694" y="2717359"/>
            <a:ext cx="596934"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B</a:t>
            </a:r>
          </a:p>
        </p:txBody>
      </p:sp>
      <p:pic>
        <p:nvPicPr>
          <p:cNvPr id="56" name="Picture 55" descr="A screenshot of a computer&#10;&#10;AI-generated content may be incorrect.">
            <a:extLst>
              <a:ext uri="{FF2B5EF4-FFF2-40B4-BE49-F238E27FC236}">
                <a16:creationId xmlns:a16="http://schemas.microsoft.com/office/drawing/2014/main" id="{196387B4-1945-998E-6529-59EEB4F27AA7}"/>
              </a:ext>
            </a:extLst>
          </p:cNvPr>
          <p:cNvPicPr>
            <a:picLocks noChangeAspect="1"/>
          </p:cNvPicPr>
          <p:nvPr/>
        </p:nvPicPr>
        <p:blipFill>
          <a:blip r:embed="rId2"/>
          <a:srcRect l="18190" t="16165" r="3464" b="44221"/>
          <a:stretch>
            <a:fillRect/>
          </a:stretch>
        </p:blipFill>
        <p:spPr>
          <a:xfrm>
            <a:off x="1686296" y="1282559"/>
            <a:ext cx="4718304" cy="1267115"/>
          </a:xfrm>
          <a:prstGeom prst="rect">
            <a:avLst/>
          </a:prstGeom>
        </p:spPr>
      </p:pic>
      <p:pic>
        <p:nvPicPr>
          <p:cNvPr id="58" name="Picture 57" descr="A screenshot of a computer&#10;&#10;AI-generated content may be incorrect.">
            <a:extLst>
              <a:ext uri="{FF2B5EF4-FFF2-40B4-BE49-F238E27FC236}">
                <a16:creationId xmlns:a16="http://schemas.microsoft.com/office/drawing/2014/main" id="{8AF441B7-61BC-8F96-5FA5-D39E0259D47F}"/>
              </a:ext>
            </a:extLst>
          </p:cNvPr>
          <p:cNvPicPr>
            <a:picLocks noChangeAspect="1"/>
          </p:cNvPicPr>
          <p:nvPr/>
        </p:nvPicPr>
        <p:blipFill>
          <a:blip r:embed="rId3"/>
          <a:srcRect l="14336" t="16420" r="5271" b="51933"/>
          <a:stretch>
            <a:fillRect/>
          </a:stretch>
        </p:blipFill>
        <p:spPr>
          <a:xfrm>
            <a:off x="1550435" y="3589593"/>
            <a:ext cx="4873752" cy="1018987"/>
          </a:xfrm>
          <a:prstGeom prst="rect">
            <a:avLst/>
          </a:prstGeom>
        </p:spPr>
      </p:pic>
      <p:sp>
        <p:nvSpPr>
          <p:cNvPr id="59" name="TextBox 58">
            <a:extLst>
              <a:ext uri="{FF2B5EF4-FFF2-40B4-BE49-F238E27FC236}">
                <a16:creationId xmlns:a16="http://schemas.microsoft.com/office/drawing/2014/main" id="{DE3E6B51-05E3-E066-B7D4-660DEE7828BB}"/>
              </a:ext>
            </a:extLst>
          </p:cNvPr>
          <p:cNvSpPr txBox="1"/>
          <p:nvPr/>
        </p:nvSpPr>
        <p:spPr>
          <a:xfrm>
            <a:off x="1576292" y="2744033"/>
            <a:ext cx="2633854"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Chr13 [(mm10: zoomed view) :15,440,165-15,755,642]</a:t>
            </a:r>
          </a:p>
        </p:txBody>
      </p:sp>
      <p:sp>
        <p:nvSpPr>
          <p:cNvPr id="60" name="Rectangle 59">
            <a:extLst>
              <a:ext uri="{FF2B5EF4-FFF2-40B4-BE49-F238E27FC236}">
                <a16:creationId xmlns:a16="http://schemas.microsoft.com/office/drawing/2014/main" id="{47A4EBE6-0EDF-D200-7B3C-0EDAB21DC2AB}"/>
              </a:ext>
            </a:extLst>
          </p:cNvPr>
          <p:cNvSpPr/>
          <p:nvPr/>
        </p:nvSpPr>
        <p:spPr>
          <a:xfrm>
            <a:off x="-15298" y="4161297"/>
            <a:ext cx="1704174" cy="215444"/>
          </a:xfrm>
          <a:prstGeom prst="rect">
            <a:avLst/>
          </a:prstGeom>
        </p:spPr>
        <p:txBody>
          <a:bodyPr wrap="square">
            <a:spAutoFit/>
          </a:bodyPr>
          <a:lstStyle/>
          <a:p>
            <a:r>
              <a:rPr lang="it-IT" sz="800" dirty="0">
                <a:latin typeface="Amasis MT Pro" panose="02040504050005020304" pitchFamily="18" charset="0"/>
              </a:rPr>
              <a:t>E11.5 limb GLI3 log2(ChIP/Input)</a:t>
            </a:r>
            <a:endParaRPr lang="en-US" sz="800" dirty="0">
              <a:latin typeface="Amasis MT Pro" panose="02040504050005020304" pitchFamily="18" charset="0"/>
              <a:cs typeface="Arial" panose="020B0604020202020204" pitchFamily="34" charset="0"/>
            </a:endParaRPr>
          </a:p>
        </p:txBody>
      </p:sp>
      <p:sp>
        <p:nvSpPr>
          <p:cNvPr id="61" name="TextBox 60">
            <a:extLst>
              <a:ext uri="{FF2B5EF4-FFF2-40B4-BE49-F238E27FC236}">
                <a16:creationId xmlns:a16="http://schemas.microsoft.com/office/drawing/2014/main" id="{2BB50CBB-22AE-2100-792E-FE1AAA42A4BC}"/>
              </a:ext>
            </a:extLst>
          </p:cNvPr>
          <p:cNvSpPr txBox="1"/>
          <p:nvPr/>
        </p:nvSpPr>
        <p:spPr>
          <a:xfrm>
            <a:off x="180491" y="4420901"/>
            <a:ext cx="1594116" cy="215444"/>
          </a:xfrm>
          <a:prstGeom prst="rect">
            <a:avLst/>
          </a:prstGeom>
        </p:spPr>
        <p:txBody>
          <a:bodyPr wrap="square">
            <a:spAutoFit/>
          </a:bodyPr>
          <a:lstStyle>
            <a:defPPr>
              <a:defRPr lang="en-US"/>
            </a:defPPr>
            <a:lvl1pPr>
              <a:defRPr sz="800">
                <a:latin typeface="Amasis MT Pro" panose="020F0502020204030204" pitchFamily="18" charset="0"/>
                <a:cs typeface="Arial" panose="020B0604020202020204" pitchFamily="34" charset="0"/>
              </a:defRPr>
            </a:lvl1pPr>
          </a:lstStyle>
          <a:p>
            <a:r>
              <a:rPr lang="en-US" dirty="0"/>
              <a:t>Gli3 limb enhancers (intronic)</a:t>
            </a:r>
          </a:p>
        </p:txBody>
      </p:sp>
      <p:pic>
        <p:nvPicPr>
          <p:cNvPr id="65" name="Picture 64" descr="A white background with yellow dots&#10;&#10;AI-generated content may be incorrect.">
            <a:extLst>
              <a:ext uri="{FF2B5EF4-FFF2-40B4-BE49-F238E27FC236}">
                <a16:creationId xmlns:a16="http://schemas.microsoft.com/office/drawing/2014/main" id="{E836EA99-273E-CACE-7EAD-49E6E9E3A4B7}"/>
              </a:ext>
            </a:extLst>
          </p:cNvPr>
          <p:cNvPicPr>
            <a:picLocks noChangeAspect="1"/>
          </p:cNvPicPr>
          <p:nvPr/>
        </p:nvPicPr>
        <p:blipFill>
          <a:blip r:embed="rId4"/>
          <a:srcRect l="4122" r="2706" b="6264"/>
          <a:stretch>
            <a:fillRect/>
          </a:stretch>
        </p:blipFill>
        <p:spPr>
          <a:xfrm>
            <a:off x="1449092" y="5264381"/>
            <a:ext cx="4800959" cy="2415029"/>
          </a:xfrm>
          <a:prstGeom prst="rect">
            <a:avLst/>
          </a:prstGeom>
        </p:spPr>
      </p:pic>
      <p:sp>
        <p:nvSpPr>
          <p:cNvPr id="66" name="TextBox 65">
            <a:extLst>
              <a:ext uri="{FF2B5EF4-FFF2-40B4-BE49-F238E27FC236}">
                <a16:creationId xmlns:a16="http://schemas.microsoft.com/office/drawing/2014/main" id="{389BDF1B-4EAF-F4DA-AB59-3970DBC6264C}"/>
              </a:ext>
            </a:extLst>
          </p:cNvPr>
          <p:cNvSpPr txBox="1"/>
          <p:nvPr/>
        </p:nvSpPr>
        <p:spPr>
          <a:xfrm>
            <a:off x="3039886" y="7724562"/>
            <a:ext cx="2126597" cy="246221"/>
          </a:xfrm>
          <a:prstGeom prst="rect">
            <a:avLst/>
          </a:prstGeom>
          <a:noFill/>
        </p:spPr>
        <p:txBody>
          <a:bodyPr wrap="square" rtlCol="0">
            <a:spAutoFit/>
          </a:bodyPr>
          <a:lstStyle/>
          <a:p>
            <a:r>
              <a:rPr lang="en-US" sz="1000" dirty="0">
                <a:latin typeface="Amasis MT Pro" panose="02040504050005020304" pitchFamily="18" charset="0"/>
              </a:rPr>
              <a:t>Chr 13 position (Mb, mm10)</a:t>
            </a:r>
          </a:p>
        </p:txBody>
      </p:sp>
      <p:sp>
        <p:nvSpPr>
          <p:cNvPr id="67" name="TextBox 66">
            <a:extLst>
              <a:ext uri="{FF2B5EF4-FFF2-40B4-BE49-F238E27FC236}">
                <a16:creationId xmlns:a16="http://schemas.microsoft.com/office/drawing/2014/main" id="{8825D4CA-E78F-2954-B25A-153CBC7DEAD8}"/>
              </a:ext>
            </a:extLst>
          </p:cNvPr>
          <p:cNvSpPr txBox="1"/>
          <p:nvPr/>
        </p:nvSpPr>
        <p:spPr>
          <a:xfrm rot="16200000">
            <a:off x="-16929" y="6155675"/>
            <a:ext cx="2675230" cy="246221"/>
          </a:xfrm>
          <a:prstGeom prst="rect">
            <a:avLst/>
          </a:prstGeom>
          <a:noFill/>
        </p:spPr>
        <p:txBody>
          <a:bodyPr wrap="square" rtlCol="0">
            <a:spAutoFit/>
          </a:bodyPr>
          <a:lstStyle/>
          <a:p>
            <a:r>
              <a:rPr lang="en-US" sz="1000" dirty="0">
                <a:latin typeface="Amasis MT Pro" panose="02040504050005020304" pitchFamily="18" charset="0"/>
              </a:rPr>
              <a:t>GLI3 enrichment (mean log2[Chip/input])</a:t>
            </a:r>
          </a:p>
        </p:txBody>
      </p:sp>
      <p:sp>
        <p:nvSpPr>
          <p:cNvPr id="42" name="TextBox 41">
            <a:extLst>
              <a:ext uri="{FF2B5EF4-FFF2-40B4-BE49-F238E27FC236}">
                <a16:creationId xmlns:a16="http://schemas.microsoft.com/office/drawing/2014/main" id="{4622D885-1E71-5893-B3F3-23E192DB518F}"/>
              </a:ext>
            </a:extLst>
          </p:cNvPr>
          <p:cNvSpPr txBox="1"/>
          <p:nvPr/>
        </p:nvSpPr>
        <p:spPr>
          <a:xfrm>
            <a:off x="5464291" y="5659360"/>
            <a:ext cx="494046" cy="215444"/>
          </a:xfrm>
          <a:prstGeom prst="rect">
            <a:avLst/>
          </a:prstGeom>
          <a:noFill/>
        </p:spPr>
        <p:txBody>
          <a:bodyPr wrap="none" rtlCol="0">
            <a:spAutoFit/>
          </a:bodyPr>
          <a:lstStyle/>
          <a:p>
            <a:r>
              <a:rPr lang="en-US" sz="800" dirty="0"/>
              <a:t>CNE19</a:t>
            </a:r>
          </a:p>
        </p:txBody>
      </p:sp>
      <p:sp>
        <p:nvSpPr>
          <p:cNvPr id="41" name="TextBox 40">
            <a:extLst>
              <a:ext uri="{FF2B5EF4-FFF2-40B4-BE49-F238E27FC236}">
                <a16:creationId xmlns:a16="http://schemas.microsoft.com/office/drawing/2014/main" id="{16D5F30F-34FE-ABC7-9615-64007A937A0E}"/>
              </a:ext>
            </a:extLst>
          </p:cNvPr>
          <p:cNvSpPr txBox="1"/>
          <p:nvPr/>
        </p:nvSpPr>
        <p:spPr>
          <a:xfrm>
            <a:off x="5198192" y="6496252"/>
            <a:ext cx="883575" cy="215444"/>
          </a:xfrm>
          <a:prstGeom prst="rect">
            <a:avLst/>
          </a:prstGeom>
          <a:noFill/>
        </p:spPr>
        <p:txBody>
          <a:bodyPr wrap="none" rtlCol="0">
            <a:spAutoFit/>
          </a:bodyPr>
          <a:lstStyle/>
          <a:p>
            <a:r>
              <a:rPr lang="en-US" sz="800" dirty="0"/>
              <a:t>CNE14/hs1586</a:t>
            </a:r>
          </a:p>
        </p:txBody>
      </p:sp>
      <p:sp>
        <p:nvSpPr>
          <p:cNvPr id="43" name="TextBox 42">
            <a:extLst>
              <a:ext uri="{FF2B5EF4-FFF2-40B4-BE49-F238E27FC236}">
                <a16:creationId xmlns:a16="http://schemas.microsoft.com/office/drawing/2014/main" id="{70647023-B249-5D63-205E-807F65A7A5BD}"/>
              </a:ext>
            </a:extLst>
          </p:cNvPr>
          <p:cNvSpPr txBox="1"/>
          <p:nvPr/>
        </p:nvSpPr>
        <p:spPr>
          <a:xfrm>
            <a:off x="5321361" y="6903720"/>
            <a:ext cx="494046" cy="215444"/>
          </a:xfrm>
          <a:prstGeom prst="rect">
            <a:avLst/>
          </a:prstGeom>
          <a:noFill/>
        </p:spPr>
        <p:txBody>
          <a:bodyPr wrap="none" rtlCol="0">
            <a:spAutoFit/>
          </a:bodyPr>
          <a:lstStyle/>
          <a:p>
            <a:r>
              <a:rPr lang="en-US" sz="800" dirty="0"/>
              <a:t>CNE18</a:t>
            </a:r>
          </a:p>
        </p:txBody>
      </p:sp>
      <p:sp>
        <p:nvSpPr>
          <p:cNvPr id="49" name="TextBox 48">
            <a:extLst>
              <a:ext uri="{FF2B5EF4-FFF2-40B4-BE49-F238E27FC236}">
                <a16:creationId xmlns:a16="http://schemas.microsoft.com/office/drawing/2014/main" id="{6999F993-49D0-1C23-FE66-DF0396A89213}"/>
              </a:ext>
            </a:extLst>
          </p:cNvPr>
          <p:cNvSpPr txBox="1"/>
          <p:nvPr/>
        </p:nvSpPr>
        <p:spPr>
          <a:xfrm>
            <a:off x="5815407" y="6903720"/>
            <a:ext cx="494046" cy="215444"/>
          </a:xfrm>
          <a:prstGeom prst="rect">
            <a:avLst/>
          </a:prstGeom>
          <a:noFill/>
        </p:spPr>
        <p:txBody>
          <a:bodyPr wrap="none" rtlCol="0">
            <a:spAutoFit/>
          </a:bodyPr>
          <a:lstStyle/>
          <a:p>
            <a:r>
              <a:rPr lang="en-US" sz="800" dirty="0"/>
              <a:t>CNE21</a:t>
            </a:r>
          </a:p>
        </p:txBody>
      </p:sp>
      <p:sp>
        <p:nvSpPr>
          <p:cNvPr id="44" name="TextBox 43">
            <a:extLst>
              <a:ext uri="{FF2B5EF4-FFF2-40B4-BE49-F238E27FC236}">
                <a16:creationId xmlns:a16="http://schemas.microsoft.com/office/drawing/2014/main" id="{773EA652-85ED-BB5B-1EA8-39FF2FFA64C4}"/>
              </a:ext>
            </a:extLst>
          </p:cNvPr>
          <p:cNvSpPr txBox="1"/>
          <p:nvPr/>
        </p:nvSpPr>
        <p:spPr>
          <a:xfrm>
            <a:off x="5820013" y="7303266"/>
            <a:ext cx="494046" cy="215444"/>
          </a:xfrm>
          <a:prstGeom prst="rect">
            <a:avLst/>
          </a:prstGeom>
          <a:noFill/>
        </p:spPr>
        <p:txBody>
          <a:bodyPr wrap="none" rtlCol="0">
            <a:spAutoFit/>
          </a:bodyPr>
          <a:lstStyle/>
          <a:p>
            <a:r>
              <a:rPr lang="en-US" sz="800" dirty="0"/>
              <a:t>CNE13</a:t>
            </a:r>
          </a:p>
        </p:txBody>
      </p:sp>
      <p:sp>
        <p:nvSpPr>
          <p:cNvPr id="69" name="TextBox 68">
            <a:extLst>
              <a:ext uri="{FF2B5EF4-FFF2-40B4-BE49-F238E27FC236}">
                <a16:creationId xmlns:a16="http://schemas.microsoft.com/office/drawing/2014/main" id="{E1E46CB0-4A41-DDE8-B69E-7192E83FD906}"/>
              </a:ext>
            </a:extLst>
          </p:cNvPr>
          <p:cNvSpPr txBox="1"/>
          <p:nvPr/>
        </p:nvSpPr>
        <p:spPr>
          <a:xfrm>
            <a:off x="5321361" y="7248521"/>
            <a:ext cx="579005" cy="215444"/>
          </a:xfrm>
          <a:prstGeom prst="rect">
            <a:avLst/>
          </a:prstGeom>
          <a:noFill/>
        </p:spPr>
        <p:txBody>
          <a:bodyPr wrap="none" rtlCol="0">
            <a:spAutoFit/>
          </a:bodyPr>
          <a:lstStyle/>
          <a:p>
            <a:r>
              <a:rPr lang="en-US" sz="800" dirty="0"/>
              <a:t>mm2018</a:t>
            </a:r>
          </a:p>
        </p:txBody>
      </p:sp>
      <p:sp>
        <p:nvSpPr>
          <p:cNvPr id="70" name="TextBox 69">
            <a:extLst>
              <a:ext uri="{FF2B5EF4-FFF2-40B4-BE49-F238E27FC236}">
                <a16:creationId xmlns:a16="http://schemas.microsoft.com/office/drawing/2014/main" id="{25CDEA00-E8E0-8961-BDC6-7D2095280FDB}"/>
              </a:ext>
            </a:extLst>
          </p:cNvPr>
          <p:cNvSpPr txBox="1"/>
          <p:nvPr/>
        </p:nvSpPr>
        <p:spPr>
          <a:xfrm>
            <a:off x="4493030" y="7113727"/>
            <a:ext cx="579005" cy="215444"/>
          </a:xfrm>
          <a:prstGeom prst="rect">
            <a:avLst/>
          </a:prstGeom>
          <a:noFill/>
        </p:spPr>
        <p:txBody>
          <a:bodyPr wrap="none" rtlCol="0">
            <a:spAutoFit/>
          </a:bodyPr>
          <a:lstStyle/>
          <a:p>
            <a:r>
              <a:rPr lang="en-US" sz="800" dirty="0"/>
              <a:t>mm1889</a:t>
            </a:r>
          </a:p>
        </p:txBody>
      </p:sp>
      <p:sp>
        <p:nvSpPr>
          <p:cNvPr id="71" name="TextBox 70">
            <a:extLst>
              <a:ext uri="{FF2B5EF4-FFF2-40B4-BE49-F238E27FC236}">
                <a16:creationId xmlns:a16="http://schemas.microsoft.com/office/drawing/2014/main" id="{EBE9873D-4B32-B416-BDC5-685494E625FF}"/>
              </a:ext>
            </a:extLst>
          </p:cNvPr>
          <p:cNvSpPr txBox="1"/>
          <p:nvPr/>
        </p:nvSpPr>
        <p:spPr>
          <a:xfrm>
            <a:off x="4606685" y="7351603"/>
            <a:ext cx="579005" cy="215444"/>
          </a:xfrm>
          <a:prstGeom prst="rect">
            <a:avLst/>
          </a:prstGeom>
          <a:noFill/>
        </p:spPr>
        <p:txBody>
          <a:bodyPr wrap="none" rtlCol="0">
            <a:spAutoFit/>
          </a:bodyPr>
          <a:lstStyle/>
          <a:p>
            <a:r>
              <a:rPr lang="en-US" sz="800" dirty="0"/>
              <a:t>mm1179</a:t>
            </a:r>
          </a:p>
        </p:txBody>
      </p:sp>
      <p:sp>
        <p:nvSpPr>
          <p:cNvPr id="72" name="TextBox 71">
            <a:extLst>
              <a:ext uri="{FF2B5EF4-FFF2-40B4-BE49-F238E27FC236}">
                <a16:creationId xmlns:a16="http://schemas.microsoft.com/office/drawing/2014/main" id="{303C7288-7A57-8757-D4F9-F7E38D1ED359}"/>
              </a:ext>
            </a:extLst>
          </p:cNvPr>
          <p:cNvSpPr txBox="1"/>
          <p:nvPr/>
        </p:nvSpPr>
        <p:spPr>
          <a:xfrm>
            <a:off x="3947698" y="7378729"/>
            <a:ext cx="579005" cy="215444"/>
          </a:xfrm>
          <a:prstGeom prst="rect">
            <a:avLst/>
          </a:prstGeom>
          <a:noFill/>
        </p:spPr>
        <p:txBody>
          <a:bodyPr wrap="none" rtlCol="0">
            <a:spAutoFit/>
          </a:bodyPr>
          <a:lstStyle/>
          <a:p>
            <a:r>
              <a:rPr lang="en-US" sz="800" dirty="0"/>
              <a:t>mm2164</a:t>
            </a:r>
          </a:p>
        </p:txBody>
      </p:sp>
      <p:sp>
        <p:nvSpPr>
          <p:cNvPr id="73" name="TextBox 72">
            <a:extLst>
              <a:ext uri="{FF2B5EF4-FFF2-40B4-BE49-F238E27FC236}">
                <a16:creationId xmlns:a16="http://schemas.microsoft.com/office/drawing/2014/main" id="{FB945A23-4899-C545-46CF-5FE45B17E222}"/>
              </a:ext>
            </a:extLst>
          </p:cNvPr>
          <p:cNvSpPr txBox="1"/>
          <p:nvPr/>
        </p:nvSpPr>
        <p:spPr>
          <a:xfrm>
            <a:off x="3375197" y="7082592"/>
            <a:ext cx="579005" cy="215444"/>
          </a:xfrm>
          <a:prstGeom prst="rect">
            <a:avLst/>
          </a:prstGeom>
          <a:noFill/>
        </p:spPr>
        <p:txBody>
          <a:bodyPr wrap="none" rtlCol="0">
            <a:spAutoFit/>
          </a:bodyPr>
          <a:lstStyle/>
          <a:p>
            <a:r>
              <a:rPr lang="en-US" sz="800" dirty="0"/>
              <a:t>mm1859</a:t>
            </a:r>
          </a:p>
        </p:txBody>
      </p:sp>
      <p:sp>
        <p:nvSpPr>
          <p:cNvPr id="48" name="TextBox 47">
            <a:extLst>
              <a:ext uri="{FF2B5EF4-FFF2-40B4-BE49-F238E27FC236}">
                <a16:creationId xmlns:a16="http://schemas.microsoft.com/office/drawing/2014/main" id="{FDCE388C-F174-CDF5-3FCD-2827BBA6DE76}"/>
              </a:ext>
            </a:extLst>
          </p:cNvPr>
          <p:cNvSpPr txBox="1"/>
          <p:nvPr/>
        </p:nvSpPr>
        <p:spPr>
          <a:xfrm>
            <a:off x="2153539" y="7140252"/>
            <a:ext cx="579005" cy="215444"/>
          </a:xfrm>
          <a:prstGeom prst="rect">
            <a:avLst/>
          </a:prstGeom>
          <a:noFill/>
        </p:spPr>
        <p:txBody>
          <a:bodyPr wrap="none" rtlCol="0">
            <a:spAutoFit/>
          </a:bodyPr>
          <a:lstStyle/>
          <a:p>
            <a:r>
              <a:rPr lang="en-US" sz="800" dirty="0"/>
              <a:t>mm2176</a:t>
            </a:r>
          </a:p>
        </p:txBody>
      </p:sp>
      <p:sp>
        <p:nvSpPr>
          <p:cNvPr id="52" name="TextBox 51">
            <a:extLst>
              <a:ext uri="{FF2B5EF4-FFF2-40B4-BE49-F238E27FC236}">
                <a16:creationId xmlns:a16="http://schemas.microsoft.com/office/drawing/2014/main" id="{23F7DF25-7A0A-C19F-54F2-505267C4D660}"/>
              </a:ext>
            </a:extLst>
          </p:cNvPr>
          <p:cNvSpPr txBox="1"/>
          <p:nvPr/>
        </p:nvSpPr>
        <p:spPr>
          <a:xfrm>
            <a:off x="1641475" y="7072324"/>
            <a:ext cx="579005" cy="215444"/>
          </a:xfrm>
          <a:prstGeom prst="rect">
            <a:avLst/>
          </a:prstGeom>
          <a:noFill/>
        </p:spPr>
        <p:txBody>
          <a:bodyPr wrap="none" rtlCol="0">
            <a:spAutoFit/>
          </a:bodyPr>
          <a:lstStyle/>
          <a:p>
            <a:r>
              <a:rPr lang="en-US" sz="800" dirty="0"/>
              <a:t>mm2080</a:t>
            </a:r>
          </a:p>
        </p:txBody>
      </p:sp>
      <p:sp>
        <p:nvSpPr>
          <p:cNvPr id="75" name="TextBox 74">
            <a:extLst>
              <a:ext uri="{FF2B5EF4-FFF2-40B4-BE49-F238E27FC236}">
                <a16:creationId xmlns:a16="http://schemas.microsoft.com/office/drawing/2014/main" id="{B5D7D406-61D8-698D-E806-6B2555402C72}"/>
              </a:ext>
            </a:extLst>
          </p:cNvPr>
          <p:cNvSpPr txBox="1"/>
          <p:nvPr/>
        </p:nvSpPr>
        <p:spPr>
          <a:xfrm>
            <a:off x="119907" y="5232942"/>
            <a:ext cx="596934"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C</a:t>
            </a:r>
          </a:p>
        </p:txBody>
      </p:sp>
      <p:sp>
        <p:nvSpPr>
          <p:cNvPr id="3" name="TextBox 2">
            <a:extLst>
              <a:ext uri="{FF2B5EF4-FFF2-40B4-BE49-F238E27FC236}">
                <a16:creationId xmlns:a16="http://schemas.microsoft.com/office/drawing/2014/main" id="{8EF73E19-C863-E65F-61C0-1E98B672F008}"/>
              </a:ext>
            </a:extLst>
          </p:cNvPr>
          <p:cNvSpPr txBox="1"/>
          <p:nvPr/>
        </p:nvSpPr>
        <p:spPr>
          <a:xfrm>
            <a:off x="124694" y="249910"/>
            <a:ext cx="324993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Supplementary Figure S1</a:t>
            </a:r>
            <a:endParaRPr lang="en-US" dirty="0"/>
          </a:p>
        </p:txBody>
      </p:sp>
    </p:spTree>
    <p:extLst>
      <p:ext uri="{BB962C8B-B14F-4D97-AF65-F5344CB8AC3E}">
        <p14:creationId xmlns:p14="http://schemas.microsoft.com/office/powerpoint/2010/main" val="1496858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A7D954-F5FA-1CEF-D856-798909A48147}"/>
              </a:ext>
            </a:extLst>
          </p:cNvPr>
          <p:cNvSpPr txBox="1"/>
          <p:nvPr/>
        </p:nvSpPr>
        <p:spPr>
          <a:xfrm>
            <a:off x="169291" y="886968"/>
            <a:ext cx="6080759" cy="5078313"/>
          </a:xfrm>
          <a:prstGeom prst="rect">
            <a:avLst/>
          </a:prstGeom>
          <a:noFill/>
        </p:spPr>
        <p:txBody>
          <a:bodyPr wrap="square">
            <a:spAutoFit/>
          </a:bodyPr>
          <a:lstStyle/>
          <a:p>
            <a:pPr algn="just"/>
            <a:r>
              <a:rPr lang="en-US" sz="1200" b="1" dirty="0">
                <a:latin typeface="Arial" panose="020B0604020202020204" pitchFamily="34" charset="0"/>
                <a:cs typeface="Arial" panose="020B0604020202020204" pitchFamily="34" charset="0"/>
              </a:rPr>
              <a:t>Supplementary Figure S1. GLI3 </a:t>
            </a:r>
            <a:r>
              <a:rPr lang="en-US" sz="1200" b="1" dirty="0" err="1">
                <a:latin typeface="Arial" panose="020B0604020202020204" pitchFamily="34" charset="0"/>
                <a:cs typeface="Arial" panose="020B0604020202020204" pitchFamily="34" charset="0"/>
              </a:rPr>
              <a:t>ChIP</a:t>
            </a:r>
            <a:r>
              <a:rPr lang="en-US" sz="1200" b="1" dirty="0">
                <a:latin typeface="Arial" panose="020B0604020202020204" pitchFamily="34" charset="0"/>
                <a:cs typeface="Arial" panose="020B0604020202020204" pitchFamily="34" charset="0"/>
              </a:rPr>
              <a:t>-seq signal across the curated Gli3 limb-enhancer set (mm10, WT E11.5 limb).</a:t>
            </a:r>
          </a:p>
          <a:p>
            <a:pPr algn="just"/>
            <a:endParaRPr lang="en-US" sz="1200" b="1" dirty="0">
              <a:latin typeface="Times New Roman" panose="02020603050405020304" pitchFamily="18" charset="0"/>
              <a:cs typeface="Times New Roman" panose="02020603050405020304" pitchFamily="18" charset="0"/>
            </a:endParaRPr>
          </a:p>
          <a:p>
            <a:pPr algn="just"/>
            <a:r>
              <a:rPr lang="en-US" sz="1200" b="1" dirty="0">
                <a:latin typeface="Times New Roman" panose="02020603050405020304" pitchFamily="18" charset="0"/>
                <a:cs typeface="Times New Roman" panose="02020603050405020304" pitchFamily="18" charset="0"/>
              </a:rPr>
              <a:t>(A)</a:t>
            </a:r>
            <a:r>
              <a:rPr lang="en-US" sz="1200" dirty="0">
                <a:latin typeface="Times New Roman" panose="02020603050405020304" pitchFamily="18" charset="0"/>
                <a:cs typeface="Times New Roman" panose="02020603050405020304" pitchFamily="18" charset="0"/>
              </a:rPr>
              <a:t> Genome-browser view of the broader </a:t>
            </a:r>
            <a:r>
              <a:rPr lang="en-US" sz="1200" i="1" dirty="0">
                <a:latin typeface="Times New Roman" panose="02020603050405020304" pitchFamily="18" charset="0"/>
                <a:cs typeface="Times New Roman" panose="02020603050405020304" pitchFamily="18" charset="0"/>
              </a:rPr>
              <a:t>Gli3</a:t>
            </a:r>
            <a:r>
              <a:rPr lang="en-US" sz="1200" dirty="0">
                <a:latin typeface="Times New Roman" panose="02020603050405020304" pitchFamily="18" charset="0"/>
                <a:cs typeface="Times New Roman" panose="02020603050405020304" pitchFamily="18" charset="0"/>
              </a:rPr>
              <a:t> locus (mm10) showing GLI3 </a:t>
            </a:r>
            <a:r>
              <a:rPr lang="en-US" sz="1200" dirty="0" err="1">
                <a:latin typeface="Times New Roman" panose="02020603050405020304" pitchFamily="18" charset="0"/>
                <a:cs typeface="Times New Roman" panose="02020603050405020304" pitchFamily="18" charset="0"/>
              </a:rPr>
              <a:t>ChIP</a:t>
            </a:r>
            <a:r>
              <a:rPr lang="en-US" sz="1200" dirty="0">
                <a:latin typeface="Times New Roman" panose="02020603050405020304" pitchFamily="18" charset="0"/>
                <a:cs typeface="Times New Roman" panose="02020603050405020304" pitchFamily="18" charset="0"/>
              </a:rPr>
              <a:t>-seq enrichment in WT E11.5 limb as a log2(</a:t>
            </a:r>
            <a:r>
              <a:rPr lang="en-US" sz="1200" dirty="0" err="1">
                <a:latin typeface="Times New Roman" panose="02020603050405020304" pitchFamily="18" charset="0"/>
                <a:cs typeface="Times New Roman" panose="02020603050405020304" pitchFamily="18" charset="0"/>
              </a:rPr>
              <a:t>ChIP</a:t>
            </a:r>
            <a:r>
              <a:rPr lang="en-US" sz="1200" dirty="0">
                <a:latin typeface="Times New Roman" panose="02020603050405020304" pitchFamily="18" charset="0"/>
                <a:cs typeface="Times New Roman" panose="02020603050405020304" pitchFamily="18" charset="0"/>
              </a:rPr>
              <a:t>/Input) </a:t>
            </a:r>
            <a:r>
              <a:rPr lang="en-US" sz="1200" dirty="0" err="1">
                <a:latin typeface="Times New Roman" panose="02020603050405020304" pitchFamily="18" charset="0"/>
                <a:cs typeface="Times New Roman" panose="02020603050405020304" pitchFamily="18" charset="0"/>
              </a:rPr>
              <a:t>bigWig</a:t>
            </a:r>
            <a:r>
              <a:rPr lang="en-US" sz="1200" dirty="0">
                <a:latin typeface="Times New Roman" panose="02020603050405020304" pitchFamily="18" charset="0"/>
                <a:cs typeface="Times New Roman" panose="02020603050405020304" pitchFamily="18" charset="0"/>
              </a:rPr>
              <a:t> track. Reads from three GLI3 </a:t>
            </a:r>
            <a:r>
              <a:rPr lang="en-US" sz="1200" dirty="0" err="1">
                <a:latin typeface="Times New Roman" panose="02020603050405020304" pitchFamily="18" charset="0"/>
                <a:cs typeface="Times New Roman" panose="02020603050405020304" pitchFamily="18" charset="0"/>
              </a:rPr>
              <a:t>ChIP</a:t>
            </a:r>
            <a:r>
              <a:rPr lang="en-US" sz="1200" dirty="0">
                <a:latin typeface="Times New Roman" panose="02020603050405020304" pitchFamily="18" charset="0"/>
                <a:cs typeface="Times New Roman" panose="02020603050405020304" pitchFamily="18" charset="0"/>
              </a:rPr>
              <a:t>-seq runs (SRR11907926, SRR11907927, SRR11907928) were aligned to mm10 using Bowtie2, merged, and normalized to CPM prior to log2(</a:t>
            </a:r>
            <a:r>
              <a:rPr lang="en-US" sz="1200" dirty="0" err="1">
                <a:latin typeface="Times New Roman" panose="02020603050405020304" pitchFamily="18" charset="0"/>
                <a:cs typeface="Times New Roman" panose="02020603050405020304" pitchFamily="18" charset="0"/>
              </a:rPr>
              <a:t>ChIP</a:t>
            </a:r>
            <a:r>
              <a:rPr lang="en-US" sz="1200" dirty="0">
                <a:latin typeface="Times New Roman" panose="02020603050405020304" pitchFamily="18" charset="0"/>
                <a:cs typeface="Times New Roman" panose="02020603050405020304" pitchFamily="18" charset="0"/>
              </a:rPr>
              <a:t>/Input) calculation. Track display ranges were set with minimum = -0.15 and maximum = 1.0. The curated </a:t>
            </a:r>
            <a:r>
              <a:rPr lang="en-US" sz="1200" i="1" dirty="0">
                <a:latin typeface="Times New Roman" panose="02020603050405020304" pitchFamily="18" charset="0"/>
                <a:cs typeface="Times New Roman" panose="02020603050405020304" pitchFamily="18" charset="0"/>
              </a:rPr>
              <a:t>Gli3</a:t>
            </a:r>
            <a:r>
              <a:rPr lang="en-US" sz="1200" dirty="0">
                <a:latin typeface="Times New Roman" panose="02020603050405020304" pitchFamily="18" charset="0"/>
                <a:cs typeface="Times New Roman" panose="02020603050405020304" pitchFamily="18" charset="0"/>
              </a:rPr>
              <a:t> limb enhancer set is displayed as color-coded intervals (upstream in gold; intronic in green). Gene models are shown for positional reference. Display range was fixed across views to allow consistent visual comparison.</a:t>
            </a:r>
          </a:p>
          <a:p>
            <a:pPr algn="just"/>
            <a:endParaRPr lang="en-US" sz="1200" b="1" dirty="0">
              <a:latin typeface="Times New Roman" panose="02020603050405020304" pitchFamily="18" charset="0"/>
              <a:cs typeface="Times New Roman" panose="02020603050405020304" pitchFamily="18" charset="0"/>
            </a:endParaRPr>
          </a:p>
          <a:p>
            <a:pPr algn="just"/>
            <a:r>
              <a:rPr lang="en-US" sz="1200" b="1" dirty="0">
                <a:latin typeface="Times New Roman" panose="02020603050405020304" pitchFamily="18" charset="0"/>
                <a:cs typeface="Times New Roman" panose="02020603050405020304" pitchFamily="18" charset="0"/>
              </a:rPr>
              <a:t>(B)</a:t>
            </a:r>
            <a:r>
              <a:rPr lang="en-US" sz="1200" dirty="0">
                <a:latin typeface="Times New Roman" panose="02020603050405020304" pitchFamily="18" charset="0"/>
                <a:cs typeface="Times New Roman" panose="02020603050405020304" pitchFamily="18" charset="0"/>
              </a:rPr>
              <a:t> Zoomed-in genome-browser view highlighting representative enhancer intervals at higher local resolution using the same GLI3 log2(</a:t>
            </a:r>
            <a:r>
              <a:rPr lang="en-US" sz="1200" dirty="0" err="1">
                <a:latin typeface="Times New Roman" panose="02020603050405020304" pitchFamily="18" charset="0"/>
                <a:cs typeface="Times New Roman" panose="02020603050405020304" pitchFamily="18" charset="0"/>
              </a:rPr>
              <a:t>ChIP</a:t>
            </a:r>
            <a:r>
              <a:rPr lang="en-US" sz="1200" dirty="0">
                <a:latin typeface="Times New Roman" panose="02020603050405020304" pitchFamily="18" charset="0"/>
                <a:cs typeface="Times New Roman" panose="02020603050405020304" pitchFamily="18" charset="0"/>
              </a:rPr>
              <a:t>/Input) track and scale conventions as in panel A. This view enables direct visual assessment of GLI3 </a:t>
            </a:r>
            <a:r>
              <a:rPr lang="en-US" sz="1200" dirty="0" err="1">
                <a:latin typeface="Times New Roman" panose="02020603050405020304" pitchFamily="18" charset="0"/>
                <a:cs typeface="Times New Roman" panose="02020603050405020304" pitchFamily="18" charset="0"/>
              </a:rPr>
              <a:t>ChIP</a:t>
            </a:r>
            <a:r>
              <a:rPr lang="en-US" sz="1200" dirty="0">
                <a:latin typeface="Times New Roman" panose="02020603050405020304" pitchFamily="18" charset="0"/>
                <a:cs typeface="Times New Roman" panose="02020603050405020304" pitchFamily="18" charset="0"/>
              </a:rPr>
              <a:t>-seq signal across individual enhancer elements and shows higher signal at a subset of intronic enhancers, whereas several other elements exhibit comparatively weak or near-background signal.</a:t>
            </a:r>
          </a:p>
          <a:p>
            <a:pPr algn="just"/>
            <a:endParaRPr lang="en-US" sz="1200" dirty="0">
              <a:latin typeface="Times New Roman" panose="02020603050405020304" pitchFamily="18" charset="0"/>
              <a:cs typeface="Times New Roman" panose="02020603050405020304" pitchFamily="18" charset="0"/>
            </a:endParaRPr>
          </a:p>
          <a:p>
            <a:pPr algn="just"/>
            <a:r>
              <a:rPr lang="en-US" sz="1200" b="1" dirty="0">
                <a:latin typeface="Times New Roman" panose="02020603050405020304" pitchFamily="18" charset="0"/>
                <a:cs typeface="Times New Roman" panose="02020603050405020304" pitchFamily="18" charset="0"/>
              </a:rPr>
              <a:t>(C)</a:t>
            </a:r>
            <a:r>
              <a:rPr lang="en-US" sz="1200" dirty="0">
                <a:latin typeface="Times New Roman" panose="02020603050405020304" pitchFamily="18" charset="0"/>
                <a:cs typeface="Times New Roman" panose="02020603050405020304" pitchFamily="18" charset="0"/>
              </a:rPr>
              <a:t> Quantification of GLI3 </a:t>
            </a:r>
            <a:r>
              <a:rPr lang="en-US" sz="1200" dirty="0" err="1">
                <a:latin typeface="Times New Roman" panose="02020603050405020304" pitchFamily="18" charset="0"/>
                <a:cs typeface="Times New Roman" panose="02020603050405020304" pitchFamily="18" charset="0"/>
              </a:rPr>
              <a:t>ChIP</a:t>
            </a:r>
            <a:r>
              <a:rPr lang="en-US" sz="1200" dirty="0">
                <a:latin typeface="Times New Roman" panose="02020603050405020304" pitchFamily="18" charset="0"/>
                <a:cs typeface="Times New Roman" panose="02020603050405020304" pitchFamily="18" charset="0"/>
              </a:rPr>
              <a:t>-seq signal across individual Gli3 enhancers (mm10). For each BED-defined enhancer interval, mean GLI3 enrichment was calculated as the average log2(</a:t>
            </a:r>
            <a:r>
              <a:rPr lang="en-US" sz="1200" dirty="0" err="1">
                <a:latin typeface="Times New Roman" panose="02020603050405020304" pitchFamily="18" charset="0"/>
                <a:cs typeface="Times New Roman" panose="02020603050405020304" pitchFamily="18" charset="0"/>
              </a:rPr>
              <a:t>ChIP</a:t>
            </a:r>
            <a:r>
              <a:rPr lang="en-US" sz="1200" dirty="0">
                <a:latin typeface="Times New Roman" panose="02020603050405020304" pitchFamily="18" charset="0"/>
                <a:cs typeface="Times New Roman" panose="02020603050405020304" pitchFamily="18" charset="0"/>
              </a:rPr>
              <a:t>/Input) signal across the full enhancer length. Enhancers are plotted by genomic position (x-axis) against mean GLI3 enrichment (y-axis) and color-coded as upstream or intronic. GLI3 signal varies substantially among the 13 enhancers, with the strongest mean enrichment observed at CNE19 (~0.28), followed by CNE14/hs1586 (~0.095), CNE18 (~0.028), and CNE21 (~0.025), whereas several other enhancers show weak or near-background mean signal. The numerical values underlying panel C are provided in Supplementary Table S3.</a:t>
            </a:r>
          </a:p>
        </p:txBody>
      </p:sp>
    </p:spTree>
    <p:extLst>
      <p:ext uri="{BB962C8B-B14F-4D97-AF65-F5344CB8AC3E}">
        <p14:creationId xmlns:p14="http://schemas.microsoft.com/office/powerpoint/2010/main" val="932981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A325ED-F1C9-5D98-9F16-E076721E0676}"/>
              </a:ext>
            </a:extLst>
          </p:cNvPr>
          <p:cNvSpPr txBox="1"/>
          <p:nvPr/>
        </p:nvSpPr>
        <p:spPr>
          <a:xfrm>
            <a:off x="124694" y="249910"/>
            <a:ext cx="324993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Supplementary Figure S2</a:t>
            </a:r>
            <a:endParaRPr lang="en-US" dirty="0"/>
          </a:p>
        </p:txBody>
      </p:sp>
      <p:pic>
        <p:nvPicPr>
          <p:cNvPr id="5" name="Picture 4" descr="A graph with blue lines and yellow dots&#10;&#10;AI-generated content may be incorrect.">
            <a:extLst>
              <a:ext uri="{FF2B5EF4-FFF2-40B4-BE49-F238E27FC236}">
                <a16:creationId xmlns:a16="http://schemas.microsoft.com/office/drawing/2014/main" id="{9E0C9683-895E-373E-EC86-C654DCA9E34B}"/>
              </a:ext>
            </a:extLst>
          </p:cNvPr>
          <p:cNvPicPr>
            <a:picLocks noChangeAspect="1"/>
          </p:cNvPicPr>
          <p:nvPr/>
        </p:nvPicPr>
        <p:blipFill>
          <a:blip r:embed="rId2">
            <a:extLst>
              <a:ext uri="{28A0092B-C50C-407E-A947-70E740481C1C}">
                <a14:useLocalDpi xmlns:a14="http://schemas.microsoft.com/office/drawing/2010/main" val="0"/>
              </a:ext>
            </a:extLst>
          </a:blip>
          <a:srcRect l="3484" t="3150" r="818" b="11779"/>
          <a:stretch>
            <a:fillRect/>
          </a:stretch>
        </p:blipFill>
        <p:spPr>
          <a:xfrm>
            <a:off x="501630" y="1115051"/>
            <a:ext cx="5552329" cy="1619549"/>
          </a:xfrm>
          <a:prstGeom prst="rect">
            <a:avLst/>
          </a:prstGeom>
        </p:spPr>
      </p:pic>
      <p:sp>
        <p:nvSpPr>
          <p:cNvPr id="6" name="TextBox 5">
            <a:extLst>
              <a:ext uri="{FF2B5EF4-FFF2-40B4-BE49-F238E27FC236}">
                <a16:creationId xmlns:a16="http://schemas.microsoft.com/office/drawing/2014/main" id="{E6113C2C-FAD7-2E66-E6D3-9E3CEDDD0001}"/>
              </a:ext>
            </a:extLst>
          </p:cNvPr>
          <p:cNvSpPr txBox="1"/>
          <p:nvPr/>
        </p:nvSpPr>
        <p:spPr>
          <a:xfrm>
            <a:off x="307730" y="2545375"/>
            <a:ext cx="253596" cy="246221"/>
          </a:xfrm>
          <a:prstGeom prst="rect">
            <a:avLst/>
          </a:prstGeom>
          <a:noFill/>
        </p:spPr>
        <p:txBody>
          <a:bodyPr wrap="none" rtlCol="0">
            <a:spAutoFit/>
          </a:bodyPr>
          <a:lstStyle/>
          <a:p>
            <a:r>
              <a:rPr lang="en-US" sz="1000" dirty="0"/>
              <a:t>0</a:t>
            </a:r>
          </a:p>
        </p:txBody>
      </p:sp>
      <p:sp>
        <p:nvSpPr>
          <p:cNvPr id="7" name="TextBox 6">
            <a:extLst>
              <a:ext uri="{FF2B5EF4-FFF2-40B4-BE49-F238E27FC236}">
                <a16:creationId xmlns:a16="http://schemas.microsoft.com/office/drawing/2014/main" id="{D5019AB4-5CE2-5CAC-273B-7E91F7891A5B}"/>
              </a:ext>
            </a:extLst>
          </p:cNvPr>
          <p:cNvSpPr txBox="1"/>
          <p:nvPr/>
        </p:nvSpPr>
        <p:spPr>
          <a:xfrm>
            <a:off x="321386" y="2316738"/>
            <a:ext cx="253596" cy="246221"/>
          </a:xfrm>
          <a:prstGeom prst="rect">
            <a:avLst/>
          </a:prstGeom>
          <a:noFill/>
        </p:spPr>
        <p:txBody>
          <a:bodyPr wrap="none" rtlCol="0">
            <a:spAutoFit/>
          </a:bodyPr>
          <a:lstStyle/>
          <a:p>
            <a:r>
              <a:rPr lang="en-US" sz="1000" dirty="0"/>
              <a:t>1</a:t>
            </a:r>
          </a:p>
        </p:txBody>
      </p:sp>
      <p:sp>
        <p:nvSpPr>
          <p:cNvPr id="8" name="TextBox 7">
            <a:extLst>
              <a:ext uri="{FF2B5EF4-FFF2-40B4-BE49-F238E27FC236}">
                <a16:creationId xmlns:a16="http://schemas.microsoft.com/office/drawing/2014/main" id="{6CFE7C56-EBD0-6D82-89B1-D817C3B0CF84}"/>
              </a:ext>
            </a:extLst>
          </p:cNvPr>
          <p:cNvSpPr txBox="1"/>
          <p:nvPr/>
        </p:nvSpPr>
        <p:spPr>
          <a:xfrm>
            <a:off x="307730" y="2074913"/>
            <a:ext cx="253596" cy="246221"/>
          </a:xfrm>
          <a:prstGeom prst="rect">
            <a:avLst/>
          </a:prstGeom>
          <a:noFill/>
        </p:spPr>
        <p:txBody>
          <a:bodyPr wrap="none" rtlCol="0">
            <a:spAutoFit/>
          </a:bodyPr>
          <a:lstStyle/>
          <a:p>
            <a:r>
              <a:rPr lang="en-US" sz="1000" dirty="0"/>
              <a:t>2</a:t>
            </a:r>
          </a:p>
        </p:txBody>
      </p:sp>
      <p:sp>
        <p:nvSpPr>
          <p:cNvPr id="9" name="TextBox 8">
            <a:extLst>
              <a:ext uri="{FF2B5EF4-FFF2-40B4-BE49-F238E27FC236}">
                <a16:creationId xmlns:a16="http://schemas.microsoft.com/office/drawing/2014/main" id="{E11CB69A-F9E2-DC4B-3616-2AF14FC7E030}"/>
              </a:ext>
            </a:extLst>
          </p:cNvPr>
          <p:cNvSpPr txBox="1"/>
          <p:nvPr/>
        </p:nvSpPr>
        <p:spPr>
          <a:xfrm>
            <a:off x="301874" y="1849244"/>
            <a:ext cx="253596" cy="246221"/>
          </a:xfrm>
          <a:prstGeom prst="rect">
            <a:avLst/>
          </a:prstGeom>
          <a:noFill/>
        </p:spPr>
        <p:txBody>
          <a:bodyPr wrap="none" rtlCol="0">
            <a:spAutoFit/>
          </a:bodyPr>
          <a:lstStyle/>
          <a:p>
            <a:r>
              <a:rPr lang="en-US" sz="1000" dirty="0"/>
              <a:t>3</a:t>
            </a:r>
          </a:p>
        </p:txBody>
      </p:sp>
      <p:sp>
        <p:nvSpPr>
          <p:cNvPr id="10" name="TextBox 9">
            <a:extLst>
              <a:ext uri="{FF2B5EF4-FFF2-40B4-BE49-F238E27FC236}">
                <a16:creationId xmlns:a16="http://schemas.microsoft.com/office/drawing/2014/main" id="{87703D1C-70DB-2A08-37FD-ED62FF82B9F3}"/>
              </a:ext>
            </a:extLst>
          </p:cNvPr>
          <p:cNvSpPr txBox="1"/>
          <p:nvPr/>
        </p:nvSpPr>
        <p:spPr>
          <a:xfrm>
            <a:off x="307730" y="1605221"/>
            <a:ext cx="253596" cy="246221"/>
          </a:xfrm>
          <a:prstGeom prst="rect">
            <a:avLst/>
          </a:prstGeom>
          <a:noFill/>
        </p:spPr>
        <p:txBody>
          <a:bodyPr wrap="none" rtlCol="0">
            <a:spAutoFit/>
          </a:bodyPr>
          <a:lstStyle/>
          <a:p>
            <a:r>
              <a:rPr lang="en-US" sz="1000" dirty="0"/>
              <a:t>4</a:t>
            </a:r>
          </a:p>
        </p:txBody>
      </p:sp>
      <p:sp>
        <p:nvSpPr>
          <p:cNvPr id="11" name="TextBox 10">
            <a:extLst>
              <a:ext uri="{FF2B5EF4-FFF2-40B4-BE49-F238E27FC236}">
                <a16:creationId xmlns:a16="http://schemas.microsoft.com/office/drawing/2014/main" id="{BB9E3FC3-8E15-7B9A-D375-F64740B5B6C5}"/>
              </a:ext>
            </a:extLst>
          </p:cNvPr>
          <p:cNvSpPr txBox="1"/>
          <p:nvPr/>
        </p:nvSpPr>
        <p:spPr>
          <a:xfrm>
            <a:off x="301871" y="1370760"/>
            <a:ext cx="253596" cy="246221"/>
          </a:xfrm>
          <a:prstGeom prst="rect">
            <a:avLst/>
          </a:prstGeom>
          <a:noFill/>
        </p:spPr>
        <p:txBody>
          <a:bodyPr wrap="none" rtlCol="0">
            <a:spAutoFit/>
          </a:bodyPr>
          <a:lstStyle/>
          <a:p>
            <a:r>
              <a:rPr lang="en-US" sz="1000" dirty="0"/>
              <a:t>5</a:t>
            </a:r>
          </a:p>
        </p:txBody>
      </p:sp>
      <p:sp>
        <p:nvSpPr>
          <p:cNvPr id="12" name="TextBox 11">
            <a:extLst>
              <a:ext uri="{FF2B5EF4-FFF2-40B4-BE49-F238E27FC236}">
                <a16:creationId xmlns:a16="http://schemas.microsoft.com/office/drawing/2014/main" id="{8E64EDF9-2684-DDBC-1B74-EBB4824710C4}"/>
              </a:ext>
            </a:extLst>
          </p:cNvPr>
          <p:cNvSpPr txBox="1"/>
          <p:nvPr/>
        </p:nvSpPr>
        <p:spPr>
          <a:xfrm>
            <a:off x="304806" y="1123113"/>
            <a:ext cx="253596" cy="246221"/>
          </a:xfrm>
          <a:prstGeom prst="rect">
            <a:avLst/>
          </a:prstGeom>
          <a:noFill/>
        </p:spPr>
        <p:txBody>
          <a:bodyPr wrap="none" rtlCol="0">
            <a:spAutoFit/>
          </a:bodyPr>
          <a:lstStyle/>
          <a:p>
            <a:r>
              <a:rPr lang="en-US" sz="1000" dirty="0"/>
              <a:t>6</a:t>
            </a:r>
          </a:p>
        </p:txBody>
      </p:sp>
      <p:sp>
        <p:nvSpPr>
          <p:cNvPr id="13" name="TextBox 12">
            <a:extLst>
              <a:ext uri="{FF2B5EF4-FFF2-40B4-BE49-F238E27FC236}">
                <a16:creationId xmlns:a16="http://schemas.microsoft.com/office/drawing/2014/main" id="{E2FF29D3-0031-52C8-33B3-21FBBAB57C9B}"/>
              </a:ext>
            </a:extLst>
          </p:cNvPr>
          <p:cNvSpPr txBox="1"/>
          <p:nvPr/>
        </p:nvSpPr>
        <p:spPr>
          <a:xfrm>
            <a:off x="588168" y="2711909"/>
            <a:ext cx="428322" cy="246221"/>
          </a:xfrm>
          <a:prstGeom prst="rect">
            <a:avLst/>
          </a:prstGeom>
          <a:noFill/>
        </p:spPr>
        <p:txBody>
          <a:bodyPr wrap="none" rtlCol="0">
            <a:spAutoFit/>
          </a:bodyPr>
          <a:lstStyle/>
          <a:p>
            <a:r>
              <a:rPr lang="en-US" sz="1000" dirty="0"/>
              <a:t>14.8</a:t>
            </a:r>
          </a:p>
        </p:txBody>
      </p:sp>
      <p:sp>
        <p:nvSpPr>
          <p:cNvPr id="14" name="TextBox 13">
            <a:extLst>
              <a:ext uri="{FF2B5EF4-FFF2-40B4-BE49-F238E27FC236}">
                <a16:creationId xmlns:a16="http://schemas.microsoft.com/office/drawing/2014/main" id="{2327C2E8-41D7-9D98-05C0-7A276BF0905A}"/>
              </a:ext>
            </a:extLst>
          </p:cNvPr>
          <p:cNvSpPr txBox="1"/>
          <p:nvPr/>
        </p:nvSpPr>
        <p:spPr>
          <a:xfrm>
            <a:off x="1382406" y="2712620"/>
            <a:ext cx="428322" cy="246221"/>
          </a:xfrm>
          <a:prstGeom prst="rect">
            <a:avLst/>
          </a:prstGeom>
          <a:noFill/>
        </p:spPr>
        <p:txBody>
          <a:bodyPr wrap="none" rtlCol="0">
            <a:spAutoFit/>
          </a:bodyPr>
          <a:lstStyle/>
          <a:p>
            <a:r>
              <a:rPr lang="en-US" sz="1000" dirty="0"/>
              <a:t>15.0</a:t>
            </a:r>
          </a:p>
        </p:txBody>
      </p:sp>
      <p:sp>
        <p:nvSpPr>
          <p:cNvPr id="15" name="TextBox 14">
            <a:extLst>
              <a:ext uri="{FF2B5EF4-FFF2-40B4-BE49-F238E27FC236}">
                <a16:creationId xmlns:a16="http://schemas.microsoft.com/office/drawing/2014/main" id="{44546FC4-F0DC-4F2C-975D-8C32348A971F}"/>
              </a:ext>
            </a:extLst>
          </p:cNvPr>
          <p:cNvSpPr txBox="1"/>
          <p:nvPr/>
        </p:nvSpPr>
        <p:spPr>
          <a:xfrm>
            <a:off x="2207416" y="2712620"/>
            <a:ext cx="428322" cy="246221"/>
          </a:xfrm>
          <a:prstGeom prst="rect">
            <a:avLst/>
          </a:prstGeom>
          <a:noFill/>
        </p:spPr>
        <p:txBody>
          <a:bodyPr wrap="none" rtlCol="0">
            <a:spAutoFit/>
          </a:bodyPr>
          <a:lstStyle/>
          <a:p>
            <a:r>
              <a:rPr lang="en-US" sz="1000" dirty="0"/>
              <a:t>15.2</a:t>
            </a:r>
          </a:p>
        </p:txBody>
      </p:sp>
      <p:sp>
        <p:nvSpPr>
          <p:cNvPr id="16" name="TextBox 15">
            <a:extLst>
              <a:ext uri="{FF2B5EF4-FFF2-40B4-BE49-F238E27FC236}">
                <a16:creationId xmlns:a16="http://schemas.microsoft.com/office/drawing/2014/main" id="{B02F7AF0-D630-719E-400A-4576664CD02B}"/>
              </a:ext>
            </a:extLst>
          </p:cNvPr>
          <p:cNvSpPr txBox="1"/>
          <p:nvPr/>
        </p:nvSpPr>
        <p:spPr>
          <a:xfrm>
            <a:off x="3003825" y="2705671"/>
            <a:ext cx="428322" cy="246221"/>
          </a:xfrm>
          <a:prstGeom prst="rect">
            <a:avLst/>
          </a:prstGeom>
          <a:noFill/>
        </p:spPr>
        <p:txBody>
          <a:bodyPr wrap="none" rtlCol="0">
            <a:spAutoFit/>
          </a:bodyPr>
          <a:lstStyle/>
          <a:p>
            <a:r>
              <a:rPr lang="en-US" sz="1000" dirty="0"/>
              <a:t>15.4</a:t>
            </a:r>
          </a:p>
        </p:txBody>
      </p:sp>
      <p:sp>
        <p:nvSpPr>
          <p:cNvPr id="17" name="TextBox 16">
            <a:extLst>
              <a:ext uri="{FF2B5EF4-FFF2-40B4-BE49-F238E27FC236}">
                <a16:creationId xmlns:a16="http://schemas.microsoft.com/office/drawing/2014/main" id="{91ECFEC8-2C66-73E5-8ECE-5DB0D4C2712A}"/>
              </a:ext>
            </a:extLst>
          </p:cNvPr>
          <p:cNvSpPr txBox="1"/>
          <p:nvPr/>
        </p:nvSpPr>
        <p:spPr>
          <a:xfrm>
            <a:off x="3798063" y="2707158"/>
            <a:ext cx="428322" cy="246221"/>
          </a:xfrm>
          <a:prstGeom prst="rect">
            <a:avLst/>
          </a:prstGeom>
          <a:noFill/>
        </p:spPr>
        <p:txBody>
          <a:bodyPr wrap="none" rtlCol="0">
            <a:spAutoFit/>
          </a:bodyPr>
          <a:lstStyle/>
          <a:p>
            <a:r>
              <a:rPr lang="en-US" sz="1000" dirty="0"/>
              <a:t>15.6</a:t>
            </a:r>
          </a:p>
        </p:txBody>
      </p:sp>
      <p:sp>
        <p:nvSpPr>
          <p:cNvPr id="18" name="TextBox 17">
            <a:extLst>
              <a:ext uri="{FF2B5EF4-FFF2-40B4-BE49-F238E27FC236}">
                <a16:creationId xmlns:a16="http://schemas.microsoft.com/office/drawing/2014/main" id="{C32B25E0-B18B-38BF-025F-EC5B021F0688}"/>
              </a:ext>
            </a:extLst>
          </p:cNvPr>
          <p:cNvSpPr txBox="1"/>
          <p:nvPr/>
        </p:nvSpPr>
        <p:spPr>
          <a:xfrm>
            <a:off x="4605489" y="2706948"/>
            <a:ext cx="428322" cy="246221"/>
          </a:xfrm>
          <a:prstGeom prst="rect">
            <a:avLst/>
          </a:prstGeom>
          <a:noFill/>
        </p:spPr>
        <p:txBody>
          <a:bodyPr wrap="none" rtlCol="0">
            <a:spAutoFit/>
          </a:bodyPr>
          <a:lstStyle/>
          <a:p>
            <a:r>
              <a:rPr lang="en-US" sz="1000" dirty="0"/>
              <a:t>15.8</a:t>
            </a:r>
          </a:p>
        </p:txBody>
      </p:sp>
      <p:sp>
        <p:nvSpPr>
          <p:cNvPr id="19" name="TextBox 18">
            <a:extLst>
              <a:ext uri="{FF2B5EF4-FFF2-40B4-BE49-F238E27FC236}">
                <a16:creationId xmlns:a16="http://schemas.microsoft.com/office/drawing/2014/main" id="{DE19DC24-4758-70E8-BA3D-08C291BEC125}"/>
              </a:ext>
            </a:extLst>
          </p:cNvPr>
          <p:cNvSpPr txBox="1"/>
          <p:nvPr/>
        </p:nvSpPr>
        <p:spPr>
          <a:xfrm>
            <a:off x="5421707" y="2706948"/>
            <a:ext cx="428322" cy="246221"/>
          </a:xfrm>
          <a:prstGeom prst="rect">
            <a:avLst/>
          </a:prstGeom>
          <a:noFill/>
        </p:spPr>
        <p:txBody>
          <a:bodyPr wrap="none" rtlCol="0">
            <a:spAutoFit/>
          </a:bodyPr>
          <a:lstStyle/>
          <a:p>
            <a:r>
              <a:rPr lang="en-US" sz="1000" dirty="0"/>
              <a:t>16.0</a:t>
            </a:r>
          </a:p>
        </p:txBody>
      </p:sp>
      <p:sp>
        <p:nvSpPr>
          <p:cNvPr id="20" name="TextBox 19">
            <a:extLst>
              <a:ext uri="{FF2B5EF4-FFF2-40B4-BE49-F238E27FC236}">
                <a16:creationId xmlns:a16="http://schemas.microsoft.com/office/drawing/2014/main" id="{1C14B942-1066-61BB-81C7-EF3ADA5BB341}"/>
              </a:ext>
            </a:extLst>
          </p:cNvPr>
          <p:cNvSpPr txBox="1"/>
          <p:nvPr/>
        </p:nvSpPr>
        <p:spPr>
          <a:xfrm rot="16200000">
            <a:off x="-741197" y="1652976"/>
            <a:ext cx="1959465" cy="246221"/>
          </a:xfrm>
          <a:prstGeom prst="rect">
            <a:avLst/>
          </a:prstGeom>
          <a:noFill/>
        </p:spPr>
        <p:txBody>
          <a:bodyPr wrap="square" rtlCol="0">
            <a:spAutoFit/>
          </a:bodyPr>
          <a:lstStyle/>
          <a:p>
            <a:r>
              <a:rPr lang="en-US" sz="1000" dirty="0">
                <a:latin typeface="Amasis MT Pro" panose="02040504050005020304" pitchFamily="18" charset="0"/>
                <a:cs typeface="Arial" panose="020B0604020202020204" pitchFamily="34" charset="0"/>
              </a:rPr>
              <a:t>Virtual 4C signal (O/E, KR)</a:t>
            </a:r>
          </a:p>
        </p:txBody>
      </p:sp>
      <p:sp>
        <p:nvSpPr>
          <p:cNvPr id="21" name="TextBox 20">
            <a:extLst>
              <a:ext uri="{FF2B5EF4-FFF2-40B4-BE49-F238E27FC236}">
                <a16:creationId xmlns:a16="http://schemas.microsoft.com/office/drawing/2014/main" id="{0E496611-6CE4-280F-26D7-DB96A0C32158}"/>
              </a:ext>
            </a:extLst>
          </p:cNvPr>
          <p:cNvSpPr txBox="1"/>
          <p:nvPr/>
        </p:nvSpPr>
        <p:spPr>
          <a:xfrm>
            <a:off x="4735799" y="2401000"/>
            <a:ext cx="495649" cy="215444"/>
          </a:xfrm>
          <a:prstGeom prst="rect">
            <a:avLst/>
          </a:prstGeom>
          <a:noFill/>
        </p:spPr>
        <p:txBody>
          <a:bodyPr wrap="none" rtlCol="0">
            <a:spAutoFit/>
          </a:bodyPr>
          <a:lstStyle/>
          <a:p>
            <a:r>
              <a:rPr lang="en-US" sz="800" dirty="0">
                <a:latin typeface="Amasis MT Pro" panose="02040504050005020304" pitchFamily="18" charset="0"/>
                <a:cs typeface="Arial" panose="020B0604020202020204" pitchFamily="34" charset="0"/>
              </a:rPr>
              <a:t>CNE13</a:t>
            </a:r>
          </a:p>
        </p:txBody>
      </p:sp>
      <p:sp>
        <p:nvSpPr>
          <p:cNvPr id="22" name="TextBox 21">
            <a:extLst>
              <a:ext uri="{FF2B5EF4-FFF2-40B4-BE49-F238E27FC236}">
                <a16:creationId xmlns:a16="http://schemas.microsoft.com/office/drawing/2014/main" id="{B552C0E4-B659-32EA-70D8-89504ECC3B62}"/>
              </a:ext>
            </a:extLst>
          </p:cNvPr>
          <p:cNvSpPr txBox="1"/>
          <p:nvPr/>
        </p:nvSpPr>
        <p:spPr>
          <a:xfrm>
            <a:off x="4415553" y="2310496"/>
            <a:ext cx="495649" cy="215444"/>
          </a:xfrm>
          <a:prstGeom prst="rect">
            <a:avLst/>
          </a:prstGeom>
          <a:noFill/>
        </p:spPr>
        <p:txBody>
          <a:bodyPr wrap="none" rtlCol="0">
            <a:spAutoFit/>
          </a:bodyPr>
          <a:lstStyle/>
          <a:p>
            <a:r>
              <a:rPr lang="en-US" sz="800" dirty="0">
                <a:latin typeface="Amasis MT Pro" panose="02040504050005020304" pitchFamily="18" charset="0"/>
                <a:cs typeface="Arial" panose="020B0604020202020204" pitchFamily="34" charset="0"/>
              </a:rPr>
              <a:t>CNE21</a:t>
            </a:r>
          </a:p>
        </p:txBody>
      </p:sp>
      <p:sp>
        <p:nvSpPr>
          <p:cNvPr id="23" name="TextBox 22">
            <a:extLst>
              <a:ext uri="{FF2B5EF4-FFF2-40B4-BE49-F238E27FC236}">
                <a16:creationId xmlns:a16="http://schemas.microsoft.com/office/drawing/2014/main" id="{769A79BA-0A74-E9FC-5142-203157AF1461}"/>
              </a:ext>
            </a:extLst>
          </p:cNvPr>
          <p:cNvSpPr txBox="1"/>
          <p:nvPr/>
        </p:nvSpPr>
        <p:spPr>
          <a:xfrm>
            <a:off x="4171713" y="2038056"/>
            <a:ext cx="495649" cy="215444"/>
          </a:xfrm>
          <a:prstGeom prst="rect">
            <a:avLst/>
          </a:prstGeom>
          <a:noFill/>
        </p:spPr>
        <p:txBody>
          <a:bodyPr wrap="none" rtlCol="0">
            <a:spAutoFit/>
          </a:bodyPr>
          <a:lstStyle/>
          <a:p>
            <a:r>
              <a:rPr lang="en-US" sz="800" dirty="0">
                <a:latin typeface="Amasis MT Pro" panose="02040504050005020304" pitchFamily="18" charset="0"/>
                <a:cs typeface="Arial" panose="020B0604020202020204" pitchFamily="34" charset="0"/>
              </a:rPr>
              <a:t>CNE19</a:t>
            </a:r>
          </a:p>
        </p:txBody>
      </p:sp>
      <p:sp>
        <p:nvSpPr>
          <p:cNvPr id="24" name="TextBox 23">
            <a:extLst>
              <a:ext uri="{FF2B5EF4-FFF2-40B4-BE49-F238E27FC236}">
                <a16:creationId xmlns:a16="http://schemas.microsoft.com/office/drawing/2014/main" id="{8B892817-1824-5B83-2C25-4329DA78FADC}"/>
              </a:ext>
            </a:extLst>
          </p:cNvPr>
          <p:cNvSpPr txBox="1"/>
          <p:nvPr/>
        </p:nvSpPr>
        <p:spPr>
          <a:xfrm>
            <a:off x="4084083" y="2137116"/>
            <a:ext cx="495649" cy="215444"/>
          </a:xfrm>
          <a:prstGeom prst="rect">
            <a:avLst/>
          </a:prstGeom>
          <a:noFill/>
        </p:spPr>
        <p:txBody>
          <a:bodyPr wrap="none" rtlCol="0">
            <a:spAutoFit/>
          </a:bodyPr>
          <a:lstStyle/>
          <a:p>
            <a:r>
              <a:rPr lang="en-US" sz="800" dirty="0">
                <a:latin typeface="Amasis MT Pro" panose="02040504050005020304" pitchFamily="18" charset="0"/>
                <a:cs typeface="Arial" panose="020B0604020202020204" pitchFamily="34" charset="0"/>
              </a:rPr>
              <a:t>CNE18</a:t>
            </a:r>
          </a:p>
        </p:txBody>
      </p:sp>
      <p:sp>
        <p:nvSpPr>
          <p:cNvPr id="25" name="TextBox 24">
            <a:extLst>
              <a:ext uri="{FF2B5EF4-FFF2-40B4-BE49-F238E27FC236}">
                <a16:creationId xmlns:a16="http://schemas.microsoft.com/office/drawing/2014/main" id="{DBA0FB33-F8F6-AFFE-323B-8FD6E0A46577}"/>
              </a:ext>
            </a:extLst>
          </p:cNvPr>
          <p:cNvSpPr txBox="1"/>
          <p:nvPr/>
        </p:nvSpPr>
        <p:spPr>
          <a:xfrm>
            <a:off x="3930111" y="2254924"/>
            <a:ext cx="566181" cy="215444"/>
          </a:xfrm>
          <a:prstGeom prst="rect">
            <a:avLst/>
          </a:prstGeom>
          <a:noFill/>
        </p:spPr>
        <p:txBody>
          <a:bodyPr wrap="none" rtlCol="0">
            <a:spAutoFit/>
          </a:bodyPr>
          <a:lstStyle/>
          <a:p>
            <a:r>
              <a:rPr lang="en-US" sz="800" dirty="0">
                <a:latin typeface="Amasis MT Pro" panose="02040504050005020304" pitchFamily="18" charset="0"/>
                <a:cs typeface="Arial" panose="020B0604020202020204" pitchFamily="34" charset="0"/>
              </a:rPr>
              <a:t>mm2018</a:t>
            </a:r>
          </a:p>
        </p:txBody>
      </p:sp>
      <p:sp>
        <p:nvSpPr>
          <p:cNvPr id="26" name="TextBox 25">
            <a:extLst>
              <a:ext uri="{FF2B5EF4-FFF2-40B4-BE49-F238E27FC236}">
                <a16:creationId xmlns:a16="http://schemas.microsoft.com/office/drawing/2014/main" id="{2622C477-437A-758B-B988-9DF64A35AAAE}"/>
              </a:ext>
            </a:extLst>
          </p:cNvPr>
          <p:cNvSpPr txBox="1"/>
          <p:nvPr/>
        </p:nvSpPr>
        <p:spPr>
          <a:xfrm>
            <a:off x="3828585" y="2357347"/>
            <a:ext cx="495649" cy="215444"/>
          </a:xfrm>
          <a:prstGeom prst="rect">
            <a:avLst/>
          </a:prstGeom>
          <a:noFill/>
        </p:spPr>
        <p:txBody>
          <a:bodyPr wrap="none" rtlCol="0">
            <a:spAutoFit/>
          </a:bodyPr>
          <a:lstStyle/>
          <a:p>
            <a:r>
              <a:rPr lang="en-US" sz="800" dirty="0">
                <a:latin typeface="Amasis MT Pro" panose="02040504050005020304" pitchFamily="18" charset="0"/>
                <a:cs typeface="Arial" panose="020B0604020202020204" pitchFamily="34" charset="0"/>
              </a:rPr>
              <a:t>CNE14</a:t>
            </a:r>
          </a:p>
        </p:txBody>
      </p:sp>
      <p:sp>
        <p:nvSpPr>
          <p:cNvPr id="27" name="TextBox 26">
            <a:extLst>
              <a:ext uri="{FF2B5EF4-FFF2-40B4-BE49-F238E27FC236}">
                <a16:creationId xmlns:a16="http://schemas.microsoft.com/office/drawing/2014/main" id="{8ECCC578-F00A-E158-7462-A10747534F93}"/>
              </a:ext>
            </a:extLst>
          </p:cNvPr>
          <p:cNvSpPr txBox="1"/>
          <p:nvPr/>
        </p:nvSpPr>
        <p:spPr>
          <a:xfrm>
            <a:off x="3376464" y="2300351"/>
            <a:ext cx="585417"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mm1179</a:t>
            </a:r>
          </a:p>
        </p:txBody>
      </p:sp>
      <p:sp>
        <p:nvSpPr>
          <p:cNvPr id="28" name="TextBox 27">
            <a:extLst>
              <a:ext uri="{FF2B5EF4-FFF2-40B4-BE49-F238E27FC236}">
                <a16:creationId xmlns:a16="http://schemas.microsoft.com/office/drawing/2014/main" id="{E8FB9547-ADE1-3923-B7C3-C8AEB8FD0071}"/>
              </a:ext>
            </a:extLst>
          </p:cNvPr>
          <p:cNvSpPr txBox="1"/>
          <p:nvPr/>
        </p:nvSpPr>
        <p:spPr>
          <a:xfrm>
            <a:off x="3208450" y="2417640"/>
            <a:ext cx="585417"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mm1889</a:t>
            </a:r>
          </a:p>
        </p:txBody>
      </p:sp>
      <p:sp>
        <p:nvSpPr>
          <p:cNvPr id="29" name="TextBox 28">
            <a:extLst>
              <a:ext uri="{FF2B5EF4-FFF2-40B4-BE49-F238E27FC236}">
                <a16:creationId xmlns:a16="http://schemas.microsoft.com/office/drawing/2014/main" id="{D1F97B15-369B-3730-2416-0486AE693417}"/>
              </a:ext>
            </a:extLst>
          </p:cNvPr>
          <p:cNvSpPr txBox="1"/>
          <p:nvPr/>
        </p:nvSpPr>
        <p:spPr>
          <a:xfrm>
            <a:off x="2711116" y="2319437"/>
            <a:ext cx="585417"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mm2164</a:t>
            </a:r>
          </a:p>
        </p:txBody>
      </p:sp>
      <p:sp>
        <p:nvSpPr>
          <p:cNvPr id="30" name="TextBox 29">
            <a:extLst>
              <a:ext uri="{FF2B5EF4-FFF2-40B4-BE49-F238E27FC236}">
                <a16:creationId xmlns:a16="http://schemas.microsoft.com/office/drawing/2014/main" id="{3B407C79-1090-CCE3-9335-25E98171C918}"/>
              </a:ext>
            </a:extLst>
          </p:cNvPr>
          <p:cNvSpPr txBox="1"/>
          <p:nvPr/>
        </p:nvSpPr>
        <p:spPr>
          <a:xfrm>
            <a:off x="2288168" y="2319437"/>
            <a:ext cx="585417"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mm1859</a:t>
            </a:r>
          </a:p>
        </p:txBody>
      </p:sp>
      <p:sp>
        <p:nvSpPr>
          <p:cNvPr id="31" name="TextBox 30">
            <a:extLst>
              <a:ext uri="{FF2B5EF4-FFF2-40B4-BE49-F238E27FC236}">
                <a16:creationId xmlns:a16="http://schemas.microsoft.com/office/drawing/2014/main" id="{160E39BA-195C-95A9-47E1-7B9A887EDB4C}"/>
              </a:ext>
            </a:extLst>
          </p:cNvPr>
          <p:cNvSpPr txBox="1"/>
          <p:nvPr/>
        </p:nvSpPr>
        <p:spPr>
          <a:xfrm>
            <a:off x="1183207" y="2293278"/>
            <a:ext cx="585417"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mm2176</a:t>
            </a:r>
          </a:p>
        </p:txBody>
      </p:sp>
      <p:sp>
        <p:nvSpPr>
          <p:cNvPr id="32" name="TextBox 31">
            <a:extLst>
              <a:ext uri="{FF2B5EF4-FFF2-40B4-BE49-F238E27FC236}">
                <a16:creationId xmlns:a16="http://schemas.microsoft.com/office/drawing/2014/main" id="{B2DE5E39-E298-2144-878C-F95F6E2DBA93}"/>
              </a:ext>
            </a:extLst>
          </p:cNvPr>
          <p:cNvSpPr txBox="1"/>
          <p:nvPr/>
        </p:nvSpPr>
        <p:spPr>
          <a:xfrm>
            <a:off x="586386" y="2311944"/>
            <a:ext cx="585417"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mm2080</a:t>
            </a:r>
          </a:p>
        </p:txBody>
      </p:sp>
      <p:sp>
        <p:nvSpPr>
          <p:cNvPr id="33" name="TextBox 32">
            <a:extLst>
              <a:ext uri="{FF2B5EF4-FFF2-40B4-BE49-F238E27FC236}">
                <a16:creationId xmlns:a16="http://schemas.microsoft.com/office/drawing/2014/main" id="{45CD115D-D4A6-BF79-C9FD-58F370FF8957}"/>
              </a:ext>
            </a:extLst>
          </p:cNvPr>
          <p:cNvSpPr txBox="1"/>
          <p:nvPr/>
        </p:nvSpPr>
        <p:spPr>
          <a:xfrm rot="16140000">
            <a:off x="3329671" y="1583411"/>
            <a:ext cx="1130438"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Gli3-Promoter</a:t>
            </a:r>
            <a:r>
              <a:rPr lang="en-US" sz="800" dirty="0">
                <a:latin typeface="Amasis MT Pro" panose="02040504050005020304" pitchFamily="18" charset="0"/>
                <a:cs typeface="Arial" panose="020B0604020202020204" pitchFamily="34" charset="0"/>
              </a:rPr>
              <a:t> region</a:t>
            </a:r>
          </a:p>
        </p:txBody>
      </p:sp>
      <p:sp>
        <p:nvSpPr>
          <p:cNvPr id="34" name="TextBox 33">
            <a:extLst>
              <a:ext uri="{FF2B5EF4-FFF2-40B4-BE49-F238E27FC236}">
                <a16:creationId xmlns:a16="http://schemas.microsoft.com/office/drawing/2014/main" id="{591C5340-A27D-D3E4-F5B7-A02D6D133B6E}"/>
              </a:ext>
            </a:extLst>
          </p:cNvPr>
          <p:cNvSpPr txBox="1"/>
          <p:nvPr/>
        </p:nvSpPr>
        <p:spPr>
          <a:xfrm>
            <a:off x="2231352" y="2951892"/>
            <a:ext cx="1819729" cy="246221"/>
          </a:xfrm>
          <a:prstGeom prst="rect">
            <a:avLst/>
          </a:prstGeom>
          <a:noFill/>
        </p:spPr>
        <p:txBody>
          <a:bodyPr wrap="none" rtlCol="0">
            <a:spAutoFit/>
          </a:bodyPr>
          <a:lstStyle/>
          <a:p>
            <a:r>
              <a:rPr lang="en-US" sz="1000" dirty="0">
                <a:latin typeface="Amasis MT Pro" panose="02040504050005020304" pitchFamily="18" charset="0"/>
                <a:cs typeface="Arial" panose="020B0604020202020204" pitchFamily="34" charset="0"/>
              </a:rPr>
              <a:t>Genomic position (Mb, mm9) </a:t>
            </a:r>
          </a:p>
        </p:txBody>
      </p:sp>
      <p:sp>
        <p:nvSpPr>
          <p:cNvPr id="35" name="TextBox 34">
            <a:extLst>
              <a:ext uri="{FF2B5EF4-FFF2-40B4-BE49-F238E27FC236}">
                <a16:creationId xmlns:a16="http://schemas.microsoft.com/office/drawing/2014/main" id="{51301002-B40F-8126-790D-1E005E4CE694}"/>
              </a:ext>
            </a:extLst>
          </p:cNvPr>
          <p:cNvSpPr txBox="1"/>
          <p:nvPr/>
        </p:nvSpPr>
        <p:spPr>
          <a:xfrm>
            <a:off x="261055" y="3537860"/>
            <a:ext cx="5552329" cy="3231654"/>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Supplementary Figure S2. Virtual 4C from the </a:t>
            </a:r>
            <a:r>
              <a:rPr lang="en-US" sz="1200" b="1" i="1" dirty="0">
                <a:latin typeface="Arial" panose="020B0604020202020204" pitchFamily="34" charset="0"/>
                <a:cs typeface="Arial" panose="020B0604020202020204" pitchFamily="34" charset="0"/>
              </a:rPr>
              <a:t>Gli3</a:t>
            </a:r>
            <a:r>
              <a:rPr lang="en-US" sz="1200" b="1" dirty="0">
                <a:latin typeface="Arial" panose="020B0604020202020204" pitchFamily="34" charset="0"/>
                <a:cs typeface="Arial" panose="020B0604020202020204" pitchFamily="34" charset="0"/>
              </a:rPr>
              <a:t> promoter in E11.5 hindlimb Hi-C (mm9).</a:t>
            </a:r>
            <a:endParaRPr lang="en-US" sz="1200" dirty="0">
              <a:latin typeface="Arial" panose="020B0604020202020204" pitchFamily="34" charset="0"/>
              <a:cs typeface="Arial" panose="020B0604020202020204" pitchFamily="34" charset="0"/>
            </a:endParaRPr>
          </a:p>
          <a:p>
            <a:endParaRPr lang="en-US" sz="1200" dirty="0"/>
          </a:p>
          <a:p>
            <a:pPr algn="just"/>
            <a:r>
              <a:rPr lang="en-US" sz="1200" dirty="0">
                <a:latin typeface="Times New Roman" panose="02020603050405020304" pitchFamily="18" charset="0"/>
                <a:cs typeface="Times New Roman" panose="02020603050405020304" pitchFamily="18" charset="0"/>
              </a:rPr>
              <a:t>Virtual 4C was computed from KR-balanced Hi-C matrices from mouse E11.5 hindlimb buds (GEO GSE116791; NCBI37/mm9). The viewpoint was the 10-kb bin containing the </a:t>
            </a:r>
            <a:r>
              <a:rPr lang="en-US" sz="1200" i="1" dirty="0">
                <a:latin typeface="Times New Roman" panose="02020603050405020304" pitchFamily="18" charset="0"/>
                <a:cs typeface="Times New Roman" panose="02020603050405020304" pitchFamily="18" charset="0"/>
              </a:rPr>
              <a:t>Gli3</a:t>
            </a:r>
            <a:r>
              <a:rPr lang="en-US" sz="1200" dirty="0">
                <a:latin typeface="Times New Roman" panose="02020603050405020304" pitchFamily="18" charset="0"/>
                <a:cs typeface="Times New Roman" panose="02020603050405020304" pitchFamily="18" charset="0"/>
              </a:rPr>
              <a:t> promoter/TSS (chr13:15,550,000–15,560,000; dashed line). The profile shows observed/expected (O/E), KR-normalized contact enrichment between the promoter-containing bin and successive 10-kb bins across chr13:14,732,034–16,103,316 (mm9). Vertical ticks mark the 13 curated </a:t>
            </a:r>
            <a:r>
              <a:rPr lang="en-US" sz="1200" i="1" dirty="0">
                <a:latin typeface="Times New Roman" panose="02020603050405020304" pitchFamily="18" charset="0"/>
                <a:cs typeface="Times New Roman" panose="02020603050405020304" pitchFamily="18" charset="0"/>
              </a:rPr>
              <a:t>Gli3</a:t>
            </a:r>
            <a:r>
              <a:rPr lang="en-US" sz="1200" dirty="0">
                <a:latin typeface="Times New Roman" panose="02020603050405020304" pitchFamily="18" charset="0"/>
                <a:cs typeface="Times New Roman" panose="02020603050405020304" pitchFamily="18" charset="0"/>
              </a:rPr>
              <a:t> limb enhancers analyzed in this study (light green, intronic; gold, upstream). The profile provides a promoter-centered view of contact enrichment across the </a:t>
            </a:r>
            <a:r>
              <a:rPr lang="en-US" sz="1200" i="1" dirty="0">
                <a:latin typeface="Times New Roman" panose="02020603050405020304" pitchFamily="18" charset="0"/>
                <a:cs typeface="Times New Roman" panose="02020603050405020304" pitchFamily="18" charset="0"/>
              </a:rPr>
              <a:t>Gli3</a:t>
            </a:r>
            <a:r>
              <a:rPr lang="en-US" sz="1200" dirty="0">
                <a:latin typeface="Times New Roman" panose="02020603050405020304" pitchFamily="18" charset="0"/>
                <a:cs typeface="Times New Roman" panose="02020603050405020304" pitchFamily="18" charset="0"/>
              </a:rPr>
              <a:t> region; these population-averaged Hi-C contacts are descriptive and do not by themselves establish direct enhancer–promoter looping or functional interaction. Underlying signal values and enhancer coordinates are provided in Supplementary Tables S4a and S4b. TSS, transcription start site; O/E, observed/expected; KR, Knight–Ruiz matrix balancing; GEO, Gene Expression Omnibus</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7206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861</TotalTime>
  <Words>672</Words>
  <Application>Microsoft Office PowerPoint</Application>
  <PresentationFormat>Custom</PresentationFormat>
  <Paragraphs>73</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Amasis MT Pro</vt:lpstr>
      <vt:lpstr>Aptos</vt:lpstr>
      <vt:lpstr>Aptos Display</vt:lpstr>
      <vt:lpstr>Arial</vt:lpstr>
      <vt:lpstr>Times New Roman</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Amir Ali Abbasi</dc:creator>
  <cp:lastModifiedBy>Amir Ali Abbasi</cp:lastModifiedBy>
  <cp:revision>25</cp:revision>
  <cp:lastPrinted>2026-07-25T07:44:10Z</cp:lastPrinted>
  <dcterms:created xsi:type="dcterms:W3CDTF">2026-02-05T04:55:19Z</dcterms:created>
  <dcterms:modified xsi:type="dcterms:W3CDTF">2026-09-06T11:42:26Z</dcterms:modified>
</cp:coreProperties>
</file>